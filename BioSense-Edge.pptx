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30ACC55-DF7E-4BC0-B693-3455CFE7E768}"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685800" y="1143000"/>
            <a:ext cx="5486040" cy="308592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Bioprocess batches are exquisitely sensitive — a pH swing of 0.2 or a two-degree temperature drift can silently destroy days of fermentation and lakhs of rupees in raw material. Today's monitoring options are either manual, slow, or imported systems costing three to ten thousand dollars — putting real-time protection out of reach for most Indian biotech labs and university facilities. BioSense-Edge targets exactly that gap: precision, deterministic monitoring for teams that can't justify an $8,000 import.</a:t>
            </a:r>
            <a:endParaRPr lang="en-US" sz="2000" b="0" u="none" strike="noStrike">
              <a:solidFill>
                <a:srgbClr val="000000"/>
              </a:solidFill>
              <a:effectLst/>
              <a:uFillTx/>
              <a:latin typeface="Arial"/>
            </a:endParaRPr>
          </a:p>
        </p:txBody>
      </p:sp>
      <p:sp>
        <p:nvSpPr>
          <p:cNvPr id="188"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E63A2F-3820-4FCE-ACFD-BFDEFAD11D5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6040" cy="3085920"/>
          </a:xfrm>
          <a:prstGeom prst="rect">
            <a:avLst/>
          </a:prstGeom>
          <a:ln w="0">
            <a:noFill/>
          </a:ln>
        </p:spPr>
      </p:sp>
      <p:sp>
        <p:nvSpPr>
          <p:cNvPr id="1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 deliberately split compute across two processors rather than one. The STM32H7 owns a hard real-time domain — sampling, PID control, and logging — completely isolated from network variability. The ESP32 handles all the unpredictable stuff: Wi-Fi negotiation, MQTT publishing, and LoRa fallback — so a dropped Wi-Fi packet never causes a missed PID cycle or a pump that doesn't fire on time.</a:t>
            </a:r>
            <a:endParaRPr lang="en-US" sz="2000" b="0" u="none" strike="noStrike">
              <a:solidFill>
                <a:srgbClr val="000000"/>
              </a:solidFill>
              <a:effectLst/>
              <a:uFillTx/>
              <a:latin typeface="Arial"/>
            </a:endParaRPr>
          </a:p>
        </p:txBody>
      </p:sp>
      <p:sp>
        <p:nvSpPr>
          <p:cNvPr id="191"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13F1DA-56F3-4D2B-A4F1-91181587D13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85800" y="1143000"/>
            <a:ext cx="5486040" cy="3085920"/>
          </a:xfrm>
          <a:prstGeom prst="rect">
            <a:avLst/>
          </a:prstGeom>
          <a:ln w="0">
            <a:noFill/>
          </a:ln>
        </p:spPr>
      </p:sp>
      <p:sp>
        <p:nvSpPr>
          <p:cNvPr id="1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probe on this rig is lab-grade: Atlas Scientific EZO circuits for pH and dissolved oxygen, a PT100 RTD through a MAX31865 driver for temperature, and a dedicated OD600 photodiode for biomass tracking. But the detail that matters most here is isolation — ISO1540 galvanic isolators sit between every analog probe and the MCU, so ground loops and electrical noise from pumps and heaters never corrupt a sensor reading.</a:t>
            </a:r>
            <a:endParaRPr lang="en-US" sz="2000" b="0" u="none" strike="noStrike">
              <a:solidFill>
                <a:srgbClr val="000000"/>
              </a:solidFill>
              <a:effectLst/>
              <a:uFillTx/>
              <a:latin typeface="Arial"/>
            </a:endParaRPr>
          </a:p>
        </p:txBody>
      </p:sp>
      <p:sp>
        <p:nvSpPr>
          <p:cNvPr id="194"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83F8F0-1998-4852-A5E9-406E83FC5E8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85800" y="1143000"/>
            <a:ext cx="5486040" cy="3085920"/>
          </a:xfrm>
          <a:prstGeom prst="rect">
            <a:avLst/>
          </a:prstGeom>
          <a:ln w="0">
            <a:noFill/>
          </a:ln>
        </p:spPr>
      </p:sp>
      <p:sp>
        <p:nvSpPr>
          <p:cNvPr id="1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methodology is closed-loop by design: sense, compute a PID correction, actuate the pumps or heater, and log to SD — all before the network is even in the picture. Connectivity is additive, not a dependency: the ESP32 continuously checks MQTT health, and if Wi-Fi drops, it silently reroutes telemetry over LoRa, so operators never lose visibility even during an outage.</a:t>
            </a:r>
            <a:endParaRPr lang="en-US" sz="2000" b="0" u="none" strike="noStrike">
              <a:solidFill>
                <a:srgbClr val="000000"/>
              </a:solidFill>
              <a:effectLst/>
              <a:uFillTx/>
              <a:latin typeface="Arial"/>
            </a:endParaRPr>
          </a:p>
        </p:txBody>
      </p:sp>
      <p:sp>
        <p:nvSpPr>
          <p:cNvPr id="197"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073401-F2B3-402C-9FF9-CE453E5AB49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685800" y="1143000"/>
            <a:ext cx="5486040" cy="3085920"/>
          </a:xfrm>
          <a:prstGeom prst="rect">
            <a:avLst/>
          </a:prstGeom>
          <a:ln w="0">
            <a:noFill/>
          </a:ln>
        </p:spPr>
      </p:sp>
      <p:sp>
        <p:nvSpPr>
          <p:cNvPr id="1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economics here are the real unlock. Our full BOM — every sensor, isolator, MCU, and pump — comes to twenty-three thousand rupees, against two-and-a-half to over eight lakhs for an imported system doing the same job. That's a ten-to-thirty-six times cost reduction, built entirely on locally-sourceable parts, and the full design is open-source on GitHub for any lab to replicate or extend.</a:t>
            </a:r>
            <a:endParaRPr lang="en-US" sz="2000" b="0" u="none" strike="noStrike">
              <a:solidFill>
                <a:srgbClr val="000000"/>
              </a:solidFill>
              <a:effectLst/>
              <a:uFillTx/>
              <a:latin typeface="Arial"/>
            </a:endParaRPr>
          </a:p>
        </p:txBody>
      </p:sp>
      <p:sp>
        <p:nvSpPr>
          <p:cNvPr id="200"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C7D159-3CD3-4749-AF78-5AE4C0FF9B6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slideLayout" Target="../slideLayouts/slideLayout1.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slideLayout" Target="../slideLayouts/slideLayout1.xml"/><Relationship Id="rId9"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E33"/>
        </a:solidFill>
      </p:bgPr>
    </p:bg>
    <p:spTree>
      <p:nvGrpSpPr>
        <p:cNvPr id="1" name=""/>
        <p:cNvGrpSpPr/>
        <p:nvPr/>
      </p:nvGrpSpPr>
      <p:grpSpPr>
        <a:xfrm>
          <a:off x="0" y="0"/>
          <a:ext cx="0" cy="0"/>
          <a:chOff x="0" y="0"/>
          <a:chExt cx="0" cy="0"/>
        </a:xfrm>
      </p:grpSpPr>
      <p:sp>
        <p:nvSpPr>
          <p:cNvPr id="10" name="Text 0"/>
          <p:cNvSpPr/>
          <p:nvPr/>
        </p:nvSpPr>
        <p:spPr>
          <a:xfrm>
            <a:off x="640080" y="502920"/>
            <a:ext cx="73148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FF7A30"/>
                </a:solidFill>
                <a:effectLst/>
                <a:uFillTx/>
                <a:latin typeface="Calibri"/>
                <a:ea typeface="Calibri"/>
              </a:rPr>
              <a:t>PROBLEM STATEMENT  ·  DEVS EVALUATION 15%</a:t>
            </a:r>
            <a:endParaRPr lang="en-US" sz="1200" b="0" u="none" strike="noStrike">
              <a:solidFill>
                <a:srgbClr val="FFFFFF"/>
              </a:solidFill>
              <a:effectLst/>
              <a:uFillTx/>
              <a:latin typeface="Arial"/>
            </a:endParaRPr>
          </a:p>
        </p:txBody>
      </p:sp>
      <p:sp>
        <p:nvSpPr>
          <p:cNvPr id="11" name="Text 1"/>
          <p:cNvSpPr/>
          <p:nvPr/>
        </p:nvSpPr>
        <p:spPr>
          <a:xfrm>
            <a:off x="640080" y="868680"/>
            <a:ext cx="6949080" cy="17370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3800" b="1" u="none" strike="noStrike">
                <a:solidFill>
                  <a:srgbClr val="FFFFFF"/>
                </a:solidFill>
                <a:effectLst/>
                <a:uFillTx/>
                <a:latin typeface="Cambria"/>
                <a:ea typeface="Cambria"/>
              </a:rPr>
              <a:t>Micro-Drift Kills Batches</a:t>
            </a:r>
            <a:endParaRPr lang="en-US" sz="3800" b="0" u="none" strike="noStrike">
              <a:solidFill>
                <a:srgbClr val="FFFFFF"/>
              </a:solidFill>
              <a:effectLst/>
              <a:uFillTx/>
              <a:latin typeface="Arial"/>
            </a:endParaRPr>
          </a:p>
          <a:p>
            <a:pPr defTabSz="914400">
              <a:lnSpc>
                <a:spcPct val="105000"/>
              </a:lnSpc>
              <a:tabLst>
                <a:tab pos="0" algn="l"/>
              </a:tabLst>
            </a:pPr>
            <a:r>
              <a:rPr lang="en-US" sz="3800" b="1" u="none" strike="noStrike">
                <a:solidFill>
                  <a:srgbClr val="FFFFFF"/>
                </a:solidFill>
                <a:effectLst/>
                <a:uFillTx/>
                <a:latin typeface="Cambria"/>
                <a:ea typeface="Cambria"/>
              </a:rPr>
              <a:t>Before Anyone Notices</a:t>
            </a:r>
            <a:endParaRPr lang="en-US" sz="3800" b="0" u="none" strike="noStrike">
              <a:solidFill>
                <a:srgbClr val="FFFFFF"/>
              </a:solidFill>
              <a:effectLst/>
              <a:uFillTx/>
              <a:latin typeface="Arial"/>
            </a:endParaRPr>
          </a:p>
        </p:txBody>
      </p:sp>
      <p:sp>
        <p:nvSpPr>
          <p:cNvPr id="12" name="Shape 2"/>
          <p:cNvSpPr/>
          <p:nvPr/>
        </p:nvSpPr>
        <p:spPr>
          <a:xfrm>
            <a:off x="640080" y="2843640"/>
            <a:ext cx="54360" cy="56664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 name="Text 3"/>
          <p:cNvSpPr/>
          <p:nvPr/>
        </p:nvSpPr>
        <p:spPr>
          <a:xfrm>
            <a:off x="896040" y="2788920"/>
            <a:ext cx="6309000" cy="685440"/>
          </a:xfrm>
          <a:prstGeom prst="rect">
            <a:avLst/>
          </a:prstGeom>
          <a:noFill/>
          <a:ln w="0">
            <a:noFill/>
          </a:ln>
        </p:spPr>
        <p:style>
          <a:lnRef idx="0"/>
          <a:fillRef idx="0"/>
          <a:effectRef idx="0"/>
          <a:fontRef idx="minor"/>
        </p:style>
        <p:txBody>
          <a:bodyPr lIns="0" tIns="0" rIns="0" bIns="0" anchor="t">
            <a:noAutofit/>
          </a:bodyPr>
          <a:p>
            <a:r>
              <a:rPr lang="en-US" sz="1400" b="1" u="none" strike="noStrike">
                <a:solidFill>
                  <a:srgbClr val="FF7A30"/>
                </a:solidFill>
                <a:effectLst/>
                <a:uFillTx/>
                <a:latin typeface="Calibri"/>
                <a:ea typeface="Calibri"/>
              </a:rPr>
              <a:t>The Problem</a:t>
            </a:r>
            <a:endParaRPr lang="en-US" sz="14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D7E8E6"/>
                </a:solidFill>
                <a:effectLst/>
                <a:uFillTx/>
                <a:latin typeface="Calibri"/>
                <a:ea typeface="Calibri"/>
              </a:rPr>
              <a:t>Undetected pH, DO, temperature &amp; OD600 drift silently degrades fermentation and bioprocess yield</a:t>
            </a:r>
            <a:endParaRPr lang="en-US" sz="1300" b="0" u="none" strike="noStrike">
              <a:solidFill>
                <a:srgbClr val="FFFFFF"/>
              </a:solidFill>
              <a:effectLst/>
              <a:uFillTx/>
              <a:latin typeface="Arial"/>
            </a:endParaRPr>
          </a:p>
        </p:txBody>
      </p:sp>
      <p:sp>
        <p:nvSpPr>
          <p:cNvPr id="14" name="Shape 4"/>
          <p:cNvSpPr/>
          <p:nvPr/>
        </p:nvSpPr>
        <p:spPr>
          <a:xfrm>
            <a:off x="640080" y="3684960"/>
            <a:ext cx="54360" cy="56664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 name="Text 5"/>
          <p:cNvSpPr/>
          <p:nvPr/>
        </p:nvSpPr>
        <p:spPr>
          <a:xfrm>
            <a:off x="896040" y="3630240"/>
            <a:ext cx="6309000" cy="685440"/>
          </a:xfrm>
          <a:prstGeom prst="rect">
            <a:avLst/>
          </a:prstGeom>
          <a:noFill/>
          <a:ln w="0">
            <a:noFill/>
          </a:ln>
        </p:spPr>
        <p:style>
          <a:lnRef idx="0"/>
          <a:fillRef idx="0"/>
          <a:effectRef idx="0"/>
          <a:fontRef idx="minor"/>
        </p:style>
        <p:txBody>
          <a:bodyPr lIns="0" tIns="0" rIns="0" bIns="0" anchor="t">
            <a:noAutofit/>
          </a:bodyPr>
          <a:p>
            <a:r>
              <a:rPr lang="en-US" sz="1400" b="1" u="none" strike="noStrike">
                <a:solidFill>
                  <a:srgbClr val="FF7A30"/>
                </a:solidFill>
                <a:effectLst/>
                <a:uFillTx/>
                <a:latin typeface="Calibri"/>
                <a:ea typeface="Calibri"/>
              </a:rPr>
              <a:t>The Stakes</a:t>
            </a:r>
            <a:endParaRPr lang="en-US" sz="14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D7E8E6"/>
                </a:solidFill>
                <a:effectLst/>
                <a:uFillTx/>
                <a:latin typeface="Calibri"/>
                <a:ea typeface="Calibri"/>
              </a:rPr>
              <a:t>A single missed drift event can void an entire high-value biopharma or enzyme production batch</a:t>
            </a:r>
            <a:endParaRPr lang="en-US" sz="1300" b="0" u="none" strike="noStrike">
              <a:solidFill>
                <a:srgbClr val="FFFFFF"/>
              </a:solidFill>
              <a:effectLst/>
              <a:uFillTx/>
              <a:latin typeface="Arial"/>
            </a:endParaRPr>
          </a:p>
        </p:txBody>
      </p:sp>
      <p:sp>
        <p:nvSpPr>
          <p:cNvPr id="16" name="Shape 6"/>
          <p:cNvSpPr/>
          <p:nvPr/>
        </p:nvSpPr>
        <p:spPr>
          <a:xfrm>
            <a:off x="640080" y="4526280"/>
            <a:ext cx="54360" cy="56664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Text 7"/>
          <p:cNvSpPr/>
          <p:nvPr/>
        </p:nvSpPr>
        <p:spPr>
          <a:xfrm>
            <a:off x="896040" y="4471560"/>
            <a:ext cx="6309000" cy="685440"/>
          </a:xfrm>
          <a:prstGeom prst="rect">
            <a:avLst/>
          </a:prstGeom>
          <a:noFill/>
          <a:ln w="0">
            <a:noFill/>
          </a:ln>
        </p:spPr>
        <p:style>
          <a:lnRef idx="0"/>
          <a:fillRef idx="0"/>
          <a:effectRef idx="0"/>
          <a:fontRef idx="minor"/>
        </p:style>
        <p:txBody>
          <a:bodyPr lIns="0" tIns="0" rIns="0" bIns="0" anchor="t">
            <a:noAutofit/>
          </a:bodyPr>
          <a:p>
            <a:r>
              <a:rPr lang="en-US" sz="1400" b="1" u="none" strike="noStrike">
                <a:solidFill>
                  <a:srgbClr val="FF7A30"/>
                </a:solidFill>
                <a:effectLst/>
                <a:uFillTx/>
                <a:latin typeface="Calibri"/>
                <a:ea typeface="Calibri"/>
              </a:rPr>
              <a:t>The Gap</a:t>
            </a:r>
            <a:endParaRPr lang="en-US" sz="14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D7E8E6"/>
                </a:solidFill>
                <a:effectLst/>
                <a:uFillTx/>
                <a:latin typeface="Calibri"/>
                <a:ea typeface="Calibri"/>
              </a:rPr>
              <a:t>Legacy monitoring systems are imported, costly, and rarely deployed below pilot-plant scale</a:t>
            </a:r>
            <a:endParaRPr lang="en-US" sz="1300" b="0" u="none" strike="noStrike">
              <a:solidFill>
                <a:srgbClr val="FFFFFF"/>
              </a:solidFill>
              <a:effectLst/>
              <a:uFillTx/>
              <a:latin typeface="Arial"/>
            </a:endParaRPr>
          </a:p>
        </p:txBody>
      </p:sp>
      <p:sp>
        <p:nvSpPr>
          <p:cNvPr id="18" name="Shape 8"/>
          <p:cNvSpPr/>
          <p:nvPr/>
        </p:nvSpPr>
        <p:spPr>
          <a:xfrm>
            <a:off x="640080" y="5367600"/>
            <a:ext cx="54360" cy="56664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 name="Text 9"/>
          <p:cNvSpPr/>
          <p:nvPr/>
        </p:nvSpPr>
        <p:spPr>
          <a:xfrm>
            <a:off x="896040" y="5312520"/>
            <a:ext cx="6309000" cy="685440"/>
          </a:xfrm>
          <a:prstGeom prst="rect">
            <a:avLst/>
          </a:prstGeom>
          <a:noFill/>
          <a:ln w="0">
            <a:noFill/>
          </a:ln>
        </p:spPr>
        <p:style>
          <a:lnRef idx="0"/>
          <a:fillRef idx="0"/>
          <a:effectRef idx="0"/>
          <a:fontRef idx="minor"/>
        </p:style>
        <p:txBody>
          <a:bodyPr lIns="0" tIns="0" rIns="0" bIns="0" anchor="t">
            <a:noAutofit/>
          </a:bodyPr>
          <a:p>
            <a:r>
              <a:rPr lang="en-US" sz="1400" b="1" u="none" strike="noStrike">
                <a:solidFill>
                  <a:srgbClr val="FF7A30"/>
                </a:solidFill>
                <a:effectLst/>
                <a:uFillTx/>
                <a:latin typeface="Calibri"/>
                <a:ea typeface="Calibri"/>
              </a:rPr>
              <a:t>Target Users</a:t>
            </a:r>
            <a:endParaRPr lang="en-US" sz="14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D7E8E6"/>
                </a:solidFill>
                <a:effectLst/>
                <a:uFillTx/>
                <a:latin typeface="Calibri"/>
                <a:ea typeface="Calibri"/>
              </a:rPr>
              <a:t>Biopharma QC labs, fermentation R&amp;D units, vaccine/enzyme facilities, agri-biotech startups</a:t>
            </a:r>
            <a:endParaRPr lang="en-US" sz="1300" b="0" u="none" strike="noStrike">
              <a:solidFill>
                <a:srgbClr val="FFFFFF"/>
              </a:solidFill>
              <a:effectLst/>
              <a:uFillTx/>
              <a:latin typeface="Arial"/>
            </a:endParaRPr>
          </a:p>
        </p:txBody>
      </p:sp>
      <p:sp>
        <p:nvSpPr>
          <p:cNvPr id="20" name="Shape 10"/>
          <p:cNvSpPr/>
          <p:nvPr/>
        </p:nvSpPr>
        <p:spPr>
          <a:xfrm>
            <a:off x="7955280" y="868680"/>
            <a:ext cx="3611520" cy="5257440"/>
          </a:xfrm>
          <a:prstGeom prst="roundRect">
            <a:avLst>
              <a:gd name="adj" fmla="val 3038"/>
            </a:avLst>
          </a:prstGeom>
          <a:solidFill>
            <a:srgbClr val="16454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 name="Text 11"/>
          <p:cNvSpPr/>
          <p:nvPr/>
        </p:nvSpPr>
        <p:spPr>
          <a:xfrm>
            <a:off x="8229600" y="1097280"/>
            <a:ext cx="31086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0" strike="noStrike">
                <a:solidFill>
                  <a:srgbClr val="9FC7C2"/>
                </a:solidFill>
                <a:effectLst/>
                <a:uFillTx/>
                <a:latin typeface="Calibri"/>
                <a:ea typeface="Calibri"/>
              </a:rPr>
              <a:t>PARAMETERS AT RISK</a:t>
            </a:r>
            <a:endParaRPr lang="en-US" sz="1100" b="0" u="none" strike="noStrike">
              <a:solidFill>
                <a:srgbClr val="FFFFFF"/>
              </a:solidFill>
              <a:effectLst/>
              <a:uFillTx/>
              <a:latin typeface="Arial"/>
            </a:endParaRPr>
          </a:p>
        </p:txBody>
      </p:sp>
      <p:sp>
        <p:nvSpPr>
          <p:cNvPr id="22" name="Shape 12"/>
          <p:cNvSpPr/>
          <p:nvPr/>
        </p:nvSpPr>
        <p:spPr>
          <a:xfrm>
            <a:off x="8229600" y="155448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3" name="Image 0" descr="/home/claude/biosense_deck/icons/ph_FFFFFF.png"/>
          <p:cNvPicPr/>
          <p:nvPr/>
        </p:nvPicPr>
        <p:blipFill>
          <a:blip r:embed="rId1"/>
          <a:stretch/>
        </p:blipFill>
        <p:spPr>
          <a:xfrm>
            <a:off x="8303400" y="1628280"/>
            <a:ext cx="419040" cy="419040"/>
          </a:xfrm>
          <a:prstGeom prst="rect">
            <a:avLst/>
          </a:prstGeom>
          <a:noFill/>
          <a:ln w="0">
            <a:noFill/>
          </a:ln>
        </p:spPr>
      </p:pic>
      <p:sp>
        <p:nvSpPr>
          <p:cNvPr id="24" name="Text 13"/>
          <p:cNvSpPr/>
          <p:nvPr/>
        </p:nvSpPr>
        <p:spPr>
          <a:xfrm>
            <a:off x="8961120" y="1572840"/>
            <a:ext cx="2422800" cy="54828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pH</a:t>
            </a:r>
            <a:endParaRPr lang="en-US" sz="1300" b="0" u="none" strike="noStrike">
              <a:solidFill>
                <a:srgbClr val="FFFFFF"/>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±0.2 drift = failed batch</a:t>
            </a:r>
            <a:endParaRPr lang="en-US" sz="1050" b="0" u="none" strike="noStrike">
              <a:solidFill>
                <a:srgbClr val="FFFFFF"/>
              </a:solidFill>
              <a:effectLst/>
              <a:uFillTx/>
              <a:latin typeface="Arial"/>
            </a:endParaRPr>
          </a:p>
        </p:txBody>
      </p:sp>
      <p:sp>
        <p:nvSpPr>
          <p:cNvPr id="25" name="Shape 14"/>
          <p:cNvSpPr/>
          <p:nvPr/>
        </p:nvSpPr>
        <p:spPr>
          <a:xfrm>
            <a:off x="8229600" y="239580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6" name="Image 1" descr="/home/claude/biosense_deck/icons/temp_FFFFFF.png"/>
          <p:cNvPicPr/>
          <p:nvPr/>
        </p:nvPicPr>
        <p:blipFill>
          <a:blip r:embed="rId2"/>
          <a:stretch/>
        </p:blipFill>
        <p:spPr>
          <a:xfrm>
            <a:off x="8303400" y="2469600"/>
            <a:ext cx="419040" cy="419040"/>
          </a:xfrm>
          <a:prstGeom prst="rect">
            <a:avLst/>
          </a:prstGeom>
          <a:noFill/>
          <a:ln w="0">
            <a:noFill/>
          </a:ln>
        </p:spPr>
      </p:pic>
      <p:sp>
        <p:nvSpPr>
          <p:cNvPr id="27" name="Text 15"/>
          <p:cNvSpPr/>
          <p:nvPr/>
        </p:nvSpPr>
        <p:spPr>
          <a:xfrm>
            <a:off x="8961120" y="2414160"/>
            <a:ext cx="2422800" cy="54828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Temperature</a:t>
            </a:r>
            <a:endParaRPr lang="en-US" sz="1300" b="0" u="none" strike="noStrike">
              <a:solidFill>
                <a:srgbClr val="FFFFFF"/>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±2°C alters growth rate</a:t>
            </a:r>
            <a:endParaRPr lang="en-US" sz="1050" b="0" u="none" strike="noStrike">
              <a:solidFill>
                <a:srgbClr val="FFFFFF"/>
              </a:solidFill>
              <a:effectLst/>
              <a:uFillTx/>
              <a:latin typeface="Arial"/>
            </a:endParaRPr>
          </a:p>
        </p:txBody>
      </p:sp>
      <p:sp>
        <p:nvSpPr>
          <p:cNvPr id="28" name="Shape 16"/>
          <p:cNvSpPr/>
          <p:nvPr/>
        </p:nvSpPr>
        <p:spPr>
          <a:xfrm>
            <a:off x="8229600" y="323712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9" name="Image 2" descr="/home/claude/biosense_deck/icons/do_probe_FFFFFF.png"/>
          <p:cNvPicPr/>
          <p:nvPr/>
        </p:nvPicPr>
        <p:blipFill>
          <a:blip r:embed="rId3"/>
          <a:stretch/>
        </p:blipFill>
        <p:spPr>
          <a:xfrm>
            <a:off x="8303400" y="3310560"/>
            <a:ext cx="419040" cy="419040"/>
          </a:xfrm>
          <a:prstGeom prst="rect">
            <a:avLst/>
          </a:prstGeom>
          <a:noFill/>
          <a:ln w="0">
            <a:noFill/>
          </a:ln>
        </p:spPr>
      </p:pic>
      <p:sp>
        <p:nvSpPr>
          <p:cNvPr id="30" name="Text 17"/>
          <p:cNvSpPr/>
          <p:nvPr/>
        </p:nvSpPr>
        <p:spPr>
          <a:xfrm>
            <a:off x="8961120" y="3255120"/>
            <a:ext cx="2422800" cy="54828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Dissolved O₂</a:t>
            </a:r>
            <a:endParaRPr lang="en-US" sz="1300" b="0" u="none" strike="noStrike">
              <a:solidFill>
                <a:srgbClr val="FFFFFF"/>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Anaerobic stress risk</a:t>
            </a:r>
            <a:endParaRPr lang="en-US" sz="1050" b="0" u="none" strike="noStrike">
              <a:solidFill>
                <a:srgbClr val="FFFFFF"/>
              </a:solidFill>
              <a:effectLst/>
              <a:uFillTx/>
              <a:latin typeface="Arial"/>
            </a:endParaRPr>
          </a:p>
        </p:txBody>
      </p:sp>
      <p:sp>
        <p:nvSpPr>
          <p:cNvPr id="31" name="Shape 18"/>
          <p:cNvSpPr/>
          <p:nvPr/>
        </p:nvSpPr>
        <p:spPr>
          <a:xfrm>
            <a:off x="8229600" y="407808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2" name="Image 3" descr="/home/claude/biosense_deck/icons/od_FFFFFF.png"/>
          <p:cNvPicPr/>
          <p:nvPr/>
        </p:nvPicPr>
        <p:blipFill>
          <a:blip r:embed="rId4"/>
          <a:stretch/>
        </p:blipFill>
        <p:spPr>
          <a:xfrm>
            <a:off x="8303400" y="4151880"/>
            <a:ext cx="419040" cy="419040"/>
          </a:xfrm>
          <a:prstGeom prst="rect">
            <a:avLst/>
          </a:prstGeom>
          <a:noFill/>
          <a:ln w="0">
            <a:noFill/>
          </a:ln>
        </p:spPr>
      </p:pic>
      <p:sp>
        <p:nvSpPr>
          <p:cNvPr id="33" name="Text 19"/>
          <p:cNvSpPr/>
          <p:nvPr/>
        </p:nvSpPr>
        <p:spPr>
          <a:xfrm>
            <a:off x="8961120" y="4096440"/>
            <a:ext cx="2422800" cy="54828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OD600</a:t>
            </a:r>
            <a:endParaRPr lang="en-US" sz="1300" b="0" u="none" strike="noStrike">
              <a:solidFill>
                <a:srgbClr val="FFFFFF"/>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Biomass curve blind spot</a:t>
            </a:r>
            <a:endParaRPr lang="en-US" sz="1050" b="0" u="none" strike="noStrike">
              <a:solidFill>
                <a:srgbClr val="FFFFFF"/>
              </a:solidFill>
              <a:effectLst/>
              <a:uFillTx/>
              <a:latin typeface="Arial"/>
            </a:endParaRPr>
          </a:p>
        </p:txBody>
      </p:sp>
      <p:sp>
        <p:nvSpPr>
          <p:cNvPr id="34" name="Shape 20"/>
          <p:cNvSpPr/>
          <p:nvPr/>
        </p:nvSpPr>
        <p:spPr>
          <a:xfrm>
            <a:off x="8229600" y="4965120"/>
            <a:ext cx="3063240" cy="360"/>
          </a:xfrm>
          <a:prstGeom prst="line">
            <a:avLst/>
          </a:prstGeom>
          <a:ln w="12700">
            <a:solidFill>
              <a:srgbClr val="2A6D67"/>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35" name="Text 21"/>
          <p:cNvSpPr/>
          <p:nvPr/>
        </p:nvSpPr>
        <p:spPr>
          <a:xfrm>
            <a:off x="8229600" y="5120640"/>
            <a:ext cx="30628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7A30"/>
                </a:solidFill>
                <a:effectLst/>
                <a:uFillTx/>
                <a:latin typeface="Cambria"/>
                <a:ea typeface="Cambria"/>
              </a:rPr>
              <a:t>$3,000–$10,000</a:t>
            </a:r>
            <a:endParaRPr lang="en-US" sz="2400" b="0" u="none" strike="noStrike">
              <a:solidFill>
                <a:srgbClr val="FFFFFF"/>
              </a:solidFill>
              <a:effectLst/>
              <a:uFillTx/>
              <a:latin typeface="Arial"/>
            </a:endParaRPr>
          </a:p>
        </p:txBody>
      </p:sp>
      <p:sp>
        <p:nvSpPr>
          <p:cNvPr id="36" name="Text 22"/>
          <p:cNvSpPr/>
          <p:nvPr/>
        </p:nvSpPr>
        <p:spPr>
          <a:xfrm>
            <a:off x="8229600" y="5605200"/>
            <a:ext cx="3062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FC9C6"/>
                </a:solidFill>
                <a:effectLst/>
                <a:uFillTx/>
                <a:latin typeface="Calibri"/>
                <a:ea typeface="Calibri"/>
              </a:rPr>
              <a:t>typical cost of an imported bioprocess telemetry system — out of reach for most Indian labs</a:t>
            </a:r>
            <a:endParaRPr lang="en-US" sz="1050" b="0" u="none" strike="noStrike">
              <a:solidFill>
                <a:srgbClr val="FFFFFF"/>
              </a:solidFill>
              <a:effectLst/>
              <a:uFillTx/>
              <a:latin typeface="Arial"/>
            </a:endParaRPr>
          </a:p>
        </p:txBody>
      </p:sp>
      <p:sp>
        <p:nvSpPr>
          <p:cNvPr id="37" name="Text 23"/>
          <p:cNvSpPr/>
          <p:nvPr/>
        </p:nvSpPr>
        <p:spPr>
          <a:xfrm>
            <a:off x="457200" y="647388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9FC7C2"/>
                </a:solidFill>
                <a:effectLst/>
                <a:uFillTx/>
                <a:latin typeface="Calibri"/>
                <a:ea typeface="Calibri"/>
              </a:rPr>
              <a:t>BIOSENSE-EDGE  |  DEVS 2026</a:t>
            </a:r>
            <a:endParaRPr lang="en-US" sz="900" b="0" u="none" strike="noStrike">
              <a:solidFill>
                <a:srgbClr val="FFFFFF"/>
              </a:solidFill>
              <a:effectLst/>
              <a:uFillTx/>
              <a:latin typeface="Arial"/>
            </a:endParaRPr>
          </a:p>
        </p:txBody>
      </p:sp>
      <p:sp>
        <p:nvSpPr>
          <p:cNvPr id="38" name="Text 24"/>
          <p:cNvSpPr/>
          <p:nvPr/>
        </p:nvSpPr>
        <p:spPr>
          <a:xfrm>
            <a:off x="11277360" y="647388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C7C2"/>
                </a:solidFill>
                <a:effectLst/>
                <a:uFillTx/>
                <a:latin typeface="Calibri"/>
                <a:ea typeface="Calibri"/>
              </a:rPr>
              <a:t>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7F6"/>
        </a:solidFill>
      </p:bgPr>
    </p:bg>
    <p:spTree>
      <p:nvGrpSpPr>
        <p:cNvPr id="1" name=""/>
        <p:cNvGrpSpPr/>
        <p:nvPr/>
      </p:nvGrpSpPr>
      <p:grpSpPr>
        <a:xfrm>
          <a:off x="0" y="0"/>
          <a:ext cx="0" cy="0"/>
          <a:chOff x="0" y="0"/>
          <a:chExt cx="0" cy="0"/>
        </a:xfrm>
      </p:grpSpPr>
      <p:sp>
        <p:nvSpPr>
          <p:cNvPr id="39" name="Text 0"/>
          <p:cNvSpPr/>
          <p:nvPr/>
        </p:nvSpPr>
        <p:spPr>
          <a:xfrm>
            <a:off x="548640" y="36576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0F5C56"/>
                </a:solidFill>
                <a:effectLst/>
                <a:uFillTx/>
                <a:latin typeface="Calibri"/>
                <a:ea typeface="Calibri"/>
              </a:rPr>
              <a:t>SYSTEM ARCHITECTURE  ·  DEVS EVALUATION 25%</a:t>
            </a:r>
            <a:endParaRPr lang="en-US" sz="1200" b="0" u="none" strike="noStrike">
              <a:solidFill>
                <a:srgbClr val="000000"/>
              </a:solidFill>
              <a:effectLst/>
              <a:uFillTx/>
              <a:latin typeface="Arial"/>
            </a:endParaRPr>
          </a:p>
        </p:txBody>
      </p:sp>
      <p:sp>
        <p:nvSpPr>
          <p:cNvPr id="40" name="Text 1"/>
          <p:cNvSpPr/>
          <p:nvPr/>
        </p:nvSpPr>
        <p:spPr>
          <a:xfrm>
            <a:off x="548640" y="640080"/>
            <a:ext cx="11063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700" b="1" u="none" strike="noStrike">
                <a:solidFill>
                  <a:srgbClr val="0B2E33"/>
                </a:solidFill>
                <a:effectLst/>
                <a:uFillTx/>
                <a:latin typeface="Cambria"/>
                <a:ea typeface="Cambria"/>
              </a:rPr>
              <a:t>Dual-MCU Architecture: Determinism Meets Connectivity</a:t>
            </a:r>
            <a:endParaRPr lang="en-US" sz="2700" b="0" u="none" strike="noStrike">
              <a:solidFill>
                <a:srgbClr val="000000"/>
              </a:solidFill>
              <a:effectLst/>
              <a:uFillTx/>
              <a:latin typeface="Arial"/>
            </a:endParaRPr>
          </a:p>
        </p:txBody>
      </p:sp>
      <p:sp>
        <p:nvSpPr>
          <p:cNvPr id="41" name="Shape 2"/>
          <p:cNvSpPr/>
          <p:nvPr/>
        </p:nvSpPr>
        <p:spPr>
          <a:xfrm>
            <a:off x="548640" y="1600200"/>
            <a:ext cx="5318280" cy="3245760"/>
          </a:xfrm>
          <a:prstGeom prst="roundRect">
            <a:avLst>
              <a:gd name="adj" fmla="val 2817"/>
            </a:avLst>
          </a:prstGeom>
          <a:solidFill>
            <a:srgbClr val="0B2E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 name="Shape 3"/>
          <p:cNvSpPr/>
          <p:nvPr/>
        </p:nvSpPr>
        <p:spPr>
          <a:xfrm>
            <a:off x="868680" y="1920240"/>
            <a:ext cx="639720" cy="639720"/>
          </a:xfrm>
          <a:prstGeom prst="ellipse">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3" name="Image 0" descr="/home/claude/biosense_deck/icons/mcu_0B2E33.png"/>
          <p:cNvPicPr/>
          <p:nvPr/>
        </p:nvPicPr>
        <p:blipFill>
          <a:blip r:embed="rId1"/>
          <a:stretch/>
        </p:blipFill>
        <p:spPr>
          <a:xfrm>
            <a:off x="951840" y="2003400"/>
            <a:ext cx="473400" cy="473400"/>
          </a:xfrm>
          <a:prstGeom prst="rect">
            <a:avLst/>
          </a:prstGeom>
          <a:noFill/>
          <a:ln w="0">
            <a:noFill/>
          </a:ln>
        </p:spPr>
      </p:pic>
      <p:sp>
        <p:nvSpPr>
          <p:cNvPr id="44" name="Text 4"/>
          <p:cNvSpPr/>
          <p:nvPr/>
        </p:nvSpPr>
        <p:spPr>
          <a:xfrm>
            <a:off x="1691640" y="1984320"/>
            <a:ext cx="41295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STM32H743ZIT6 — Main MCU</a:t>
            </a:r>
            <a:endParaRPr lang="en-US" sz="1700" b="0" u="none" strike="noStrike">
              <a:solidFill>
                <a:srgbClr val="000000"/>
              </a:solidFill>
              <a:effectLst/>
              <a:uFillTx/>
              <a:latin typeface="Arial"/>
            </a:endParaRPr>
          </a:p>
        </p:txBody>
      </p:sp>
      <p:sp>
        <p:nvSpPr>
          <p:cNvPr id="45" name="Text 5"/>
          <p:cNvSpPr/>
          <p:nvPr/>
        </p:nvSpPr>
        <p:spPr>
          <a:xfrm>
            <a:off x="1691640" y="2286000"/>
            <a:ext cx="4129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8FC7BE"/>
                </a:solidFill>
                <a:effectLst/>
                <a:uFillTx/>
                <a:latin typeface="Calibri"/>
                <a:ea typeface="Calibri"/>
              </a:rPr>
              <a:t>Deterministic Real-Time Domain  ·  480 MHz</a:t>
            </a:r>
            <a:endParaRPr lang="en-US" sz="1100" b="0" u="none" strike="noStrike">
              <a:solidFill>
                <a:srgbClr val="000000"/>
              </a:solidFill>
              <a:effectLst/>
              <a:uFillTx/>
              <a:latin typeface="Arial"/>
            </a:endParaRPr>
          </a:p>
        </p:txBody>
      </p:sp>
      <p:sp>
        <p:nvSpPr>
          <p:cNvPr id="46" name="Shape 6"/>
          <p:cNvSpPr/>
          <p:nvPr/>
        </p:nvSpPr>
        <p:spPr>
          <a:xfrm>
            <a:off x="868680" y="2843640"/>
            <a:ext cx="82080" cy="82080"/>
          </a:xfrm>
          <a:prstGeom prst="ellipse">
            <a:avLst/>
          </a:prstGeom>
          <a:solidFill>
            <a:srgbClr val="FF7A30"/>
          </a:solidFill>
          <a:ln w="0">
            <a:noFill/>
          </a:ln>
        </p:spPr>
        <p:style>
          <a:lnRef idx="0"/>
          <a:fillRef idx="0"/>
          <a:effectRef idx="0"/>
          <a:fontRef idx="minor"/>
        </p:style>
        <p:txBody>
          <a:bodyPr lIns="90000" tIns="13320" rIns="90000" bIns="13320" anchor="t">
            <a:noAutofit/>
          </a:bodyPr>
          <a:p>
            <a:endParaRPr lang="en-US" sz="1800" b="0" u="none" strike="noStrike">
              <a:solidFill>
                <a:srgbClr val="000000"/>
              </a:solidFill>
              <a:effectLst/>
              <a:uFillTx/>
              <a:latin typeface="Arial"/>
            </a:endParaRPr>
          </a:p>
        </p:txBody>
      </p:sp>
      <p:sp>
        <p:nvSpPr>
          <p:cNvPr id="47" name="Text 7"/>
          <p:cNvSpPr/>
          <p:nvPr/>
        </p:nvSpPr>
        <p:spPr>
          <a:xfrm>
            <a:off x="1097280" y="2715840"/>
            <a:ext cx="4678200" cy="59400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High-Speed ADC/SPI Sampling</a:t>
            </a:r>
            <a:endParaRPr lang="en-US" sz="130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Synchronized acquisition across all 4 sensor channels</a:t>
            </a:r>
            <a:endParaRPr lang="en-US" sz="1050" b="0" u="none" strike="noStrike">
              <a:solidFill>
                <a:srgbClr val="000000"/>
              </a:solidFill>
              <a:effectLst/>
              <a:uFillTx/>
              <a:latin typeface="Arial"/>
            </a:endParaRPr>
          </a:p>
        </p:txBody>
      </p:sp>
      <p:sp>
        <p:nvSpPr>
          <p:cNvPr id="48" name="Shape 8"/>
          <p:cNvSpPr/>
          <p:nvPr/>
        </p:nvSpPr>
        <p:spPr>
          <a:xfrm>
            <a:off x="868680" y="3502080"/>
            <a:ext cx="82080" cy="82080"/>
          </a:xfrm>
          <a:prstGeom prst="ellipse">
            <a:avLst/>
          </a:prstGeom>
          <a:solidFill>
            <a:srgbClr val="FF7A30"/>
          </a:solidFill>
          <a:ln w="0">
            <a:noFill/>
          </a:ln>
        </p:spPr>
        <p:style>
          <a:lnRef idx="0"/>
          <a:fillRef idx="0"/>
          <a:effectRef idx="0"/>
          <a:fontRef idx="minor"/>
        </p:style>
        <p:txBody>
          <a:bodyPr lIns="90000" tIns="13320" rIns="90000" bIns="13320" anchor="t">
            <a:noAutofit/>
          </a:bodyPr>
          <a:p>
            <a:endParaRPr lang="en-US" sz="1800" b="0" u="none" strike="noStrike">
              <a:solidFill>
                <a:srgbClr val="000000"/>
              </a:solidFill>
              <a:effectLst/>
              <a:uFillTx/>
              <a:latin typeface="Arial"/>
            </a:endParaRPr>
          </a:p>
        </p:txBody>
      </p:sp>
      <p:sp>
        <p:nvSpPr>
          <p:cNvPr id="49" name="Text 9"/>
          <p:cNvSpPr/>
          <p:nvPr/>
        </p:nvSpPr>
        <p:spPr>
          <a:xfrm>
            <a:off x="1097280" y="3374280"/>
            <a:ext cx="4678200" cy="59400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Closed-Loop PID Engine</a:t>
            </a:r>
            <a:endParaRPr lang="en-US" sz="130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Real-time correction with hard timing guarantees</a:t>
            </a:r>
            <a:endParaRPr lang="en-US" sz="1050" b="0" u="none" strike="noStrike">
              <a:solidFill>
                <a:srgbClr val="000000"/>
              </a:solidFill>
              <a:effectLst/>
              <a:uFillTx/>
              <a:latin typeface="Arial"/>
            </a:endParaRPr>
          </a:p>
        </p:txBody>
      </p:sp>
      <p:sp>
        <p:nvSpPr>
          <p:cNvPr id="50" name="Shape 10"/>
          <p:cNvSpPr/>
          <p:nvPr/>
        </p:nvSpPr>
        <p:spPr>
          <a:xfrm>
            <a:off x="868680" y="4160520"/>
            <a:ext cx="82080" cy="82080"/>
          </a:xfrm>
          <a:prstGeom prst="ellipse">
            <a:avLst/>
          </a:prstGeom>
          <a:solidFill>
            <a:srgbClr val="FF7A30"/>
          </a:solidFill>
          <a:ln w="0">
            <a:noFill/>
          </a:ln>
        </p:spPr>
        <p:style>
          <a:lnRef idx="0"/>
          <a:fillRef idx="0"/>
          <a:effectRef idx="0"/>
          <a:fontRef idx="minor"/>
        </p:style>
        <p:txBody>
          <a:bodyPr lIns="90000" tIns="13320" rIns="90000" bIns="13320" anchor="t">
            <a:noAutofit/>
          </a:bodyPr>
          <a:p>
            <a:endParaRPr lang="en-US" sz="1800" b="0" u="none" strike="noStrike">
              <a:solidFill>
                <a:srgbClr val="000000"/>
              </a:solidFill>
              <a:effectLst/>
              <a:uFillTx/>
              <a:latin typeface="Arial"/>
            </a:endParaRPr>
          </a:p>
        </p:txBody>
      </p:sp>
      <p:sp>
        <p:nvSpPr>
          <p:cNvPr id="51" name="Text 11"/>
          <p:cNvSpPr/>
          <p:nvPr/>
        </p:nvSpPr>
        <p:spPr>
          <a:xfrm>
            <a:off x="1097280" y="4032360"/>
            <a:ext cx="4678200" cy="59400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Local SD Black-Box Logger</a:t>
            </a:r>
            <a:endParaRPr lang="en-US" sz="130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AFC9C6"/>
                </a:solidFill>
                <a:effectLst/>
                <a:uFillTx/>
                <a:latin typeface="Calibri"/>
                <a:ea typeface="Calibri"/>
              </a:rPr>
              <a:t>Zero data loss, independent of network state</a:t>
            </a:r>
            <a:endParaRPr lang="en-US" sz="1050" b="0" u="none" strike="noStrike">
              <a:solidFill>
                <a:srgbClr val="000000"/>
              </a:solidFill>
              <a:effectLst/>
              <a:uFillTx/>
              <a:latin typeface="Arial"/>
            </a:endParaRPr>
          </a:p>
        </p:txBody>
      </p:sp>
      <p:sp>
        <p:nvSpPr>
          <p:cNvPr id="52" name="Shape 12"/>
          <p:cNvSpPr/>
          <p:nvPr/>
        </p:nvSpPr>
        <p:spPr>
          <a:xfrm>
            <a:off x="6324480" y="1600200"/>
            <a:ext cx="5318280" cy="3245760"/>
          </a:xfrm>
          <a:prstGeom prst="roundRect">
            <a:avLst>
              <a:gd name="adj" fmla="val 2817"/>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 name="Shape 13"/>
          <p:cNvSpPr/>
          <p:nvPr/>
        </p:nvSpPr>
        <p:spPr>
          <a:xfrm>
            <a:off x="6644520" y="1920240"/>
            <a:ext cx="639720" cy="639720"/>
          </a:xfrm>
          <a:prstGeom prst="ellipse">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4" name="Image 1" descr="/home/claude/biosense_deck/icons/network_0F5C56.png"/>
          <p:cNvPicPr/>
          <p:nvPr/>
        </p:nvPicPr>
        <p:blipFill>
          <a:blip r:embed="rId2"/>
          <a:stretch/>
        </p:blipFill>
        <p:spPr>
          <a:xfrm>
            <a:off x="6727680" y="2003400"/>
            <a:ext cx="473400" cy="473400"/>
          </a:xfrm>
          <a:prstGeom prst="rect">
            <a:avLst/>
          </a:prstGeom>
          <a:noFill/>
          <a:ln w="0">
            <a:noFill/>
          </a:ln>
        </p:spPr>
      </p:pic>
      <p:sp>
        <p:nvSpPr>
          <p:cNvPr id="55" name="Text 14"/>
          <p:cNvSpPr/>
          <p:nvPr/>
        </p:nvSpPr>
        <p:spPr>
          <a:xfrm>
            <a:off x="7467480" y="1984320"/>
            <a:ext cx="41295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ESP32 — Network Co-Processor</a:t>
            </a:r>
            <a:endParaRPr lang="en-US" sz="1700" b="0" u="none" strike="noStrike">
              <a:solidFill>
                <a:srgbClr val="000000"/>
              </a:solidFill>
              <a:effectLst/>
              <a:uFillTx/>
              <a:latin typeface="Arial"/>
            </a:endParaRPr>
          </a:p>
        </p:txBody>
      </p:sp>
      <p:sp>
        <p:nvSpPr>
          <p:cNvPr id="56" name="Text 15"/>
          <p:cNvSpPr/>
          <p:nvPr/>
        </p:nvSpPr>
        <p:spPr>
          <a:xfrm>
            <a:off x="7467480" y="2286000"/>
            <a:ext cx="4129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CDEAE3"/>
                </a:solidFill>
                <a:effectLst/>
                <a:uFillTx/>
                <a:latin typeface="Calibri"/>
                <a:ea typeface="Calibri"/>
              </a:rPr>
              <a:t>Connectivity Domain  ·  Fully Offloaded</a:t>
            </a:r>
            <a:endParaRPr lang="en-US" sz="1100" b="0" u="none" strike="noStrike">
              <a:solidFill>
                <a:srgbClr val="000000"/>
              </a:solidFill>
              <a:effectLst/>
              <a:uFillTx/>
              <a:latin typeface="Arial"/>
            </a:endParaRPr>
          </a:p>
        </p:txBody>
      </p:sp>
      <p:sp>
        <p:nvSpPr>
          <p:cNvPr id="57" name="Shape 16"/>
          <p:cNvSpPr/>
          <p:nvPr/>
        </p:nvSpPr>
        <p:spPr>
          <a:xfrm>
            <a:off x="6644520" y="2843640"/>
            <a:ext cx="82080" cy="82080"/>
          </a:xfrm>
          <a:prstGeom prst="ellipse">
            <a:avLst/>
          </a:prstGeom>
          <a:solidFill>
            <a:srgbClr val="FF7A30"/>
          </a:solidFill>
          <a:ln w="0">
            <a:noFill/>
          </a:ln>
        </p:spPr>
        <p:style>
          <a:lnRef idx="0"/>
          <a:fillRef idx="0"/>
          <a:effectRef idx="0"/>
          <a:fontRef idx="minor"/>
        </p:style>
        <p:txBody>
          <a:bodyPr lIns="90000" tIns="13320" rIns="90000" bIns="13320" anchor="t">
            <a:noAutofit/>
          </a:bodyPr>
          <a:p>
            <a:endParaRPr lang="en-US" sz="1800" b="0" u="none" strike="noStrike">
              <a:solidFill>
                <a:srgbClr val="000000"/>
              </a:solidFill>
              <a:effectLst/>
              <a:uFillTx/>
              <a:latin typeface="Arial"/>
            </a:endParaRPr>
          </a:p>
        </p:txBody>
      </p:sp>
      <p:sp>
        <p:nvSpPr>
          <p:cNvPr id="58" name="Text 17"/>
          <p:cNvSpPr/>
          <p:nvPr/>
        </p:nvSpPr>
        <p:spPr>
          <a:xfrm>
            <a:off x="6873120" y="2715840"/>
            <a:ext cx="4678200" cy="59400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Wi-Fi / MQTT Stack</a:t>
            </a:r>
            <a:endParaRPr lang="en-US" sz="130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DCEEE9"/>
                </a:solidFill>
                <a:effectLst/>
                <a:uFillTx/>
                <a:latin typeface="Calibri"/>
                <a:ea typeface="Calibri"/>
              </a:rPr>
              <a:t>Primary telemetry uplink to cloud dashboard</a:t>
            </a:r>
            <a:endParaRPr lang="en-US" sz="1050" b="0" u="none" strike="noStrike">
              <a:solidFill>
                <a:srgbClr val="000000"/>
              </a:solidFill>
              <a:effectLst/>
              <a:uFillTx/>
              <a:latin typeface="Arial"/>
            </a:endParaRPr>
          </a:p>
        </p:txBody>
      </p:sp>
      <p:sp>
        <p:nvSpPr>
          <p:cNvPr id="59" name="Shape 18"/>
          <p:cNvSpPr/>
          <p:nvPr/>
        </p:nvSpPr>
        <p:spPr>
          <a:xfrm>
            <a:off x="6644520" y="3502080"/>
            <a:ext cx="82080" cy="82080"/>
          </a:xfrm>
          <a:prstGeom prst="ellipse">
            <a:avLst/>
          </a:prstGeom>
          <a:solidFill>
            <a:srgbClr val="FF7A30"/>
          </a:solidFill>
          <a:ln w="0">
            <a:noFill/>
          </a:ln>
        </p:spPr>
        <p:style>
          <a:lnRef idx="0"/>
          <a:fillRef idx="0"/>
          <a:effectRef idx="0"/>
          <a:fontRef idx="minor"/>
        </p:style>
        <p:txBody>
          <a:bodyPr lIns="90000" tIns="13320" rIns="90000" bIns="13320" anchor="t">
            <a:noAutofit/>
          </a:bodyPr>
          <a:p>
            <a:endParaRPr lang="en-US" sz="1800" b="0" u="none" strike="noStrike">
              <a:solidFill>
                <a:srgbClr val="000000"/>
              </a:solidFill>
              <a:effectLst/>
              <a:uFillTx/>
              <a:latin typeface="Arial"/>
            </a:endParaRPr>
          </a:p>
        </p:txBody>
      </p:sp>
      <p:sp>
        <p:nvSpPr>
          <p:cNvPr id="60" name="Text 19"/>
          <p:cNvSpPr/>
          <p:nvPr/>
        </p:nvSpPr>
        <p:spPr>
          <a:xfrm>
            <a:off x="6873120" y="3374280"/>
            <a:ext cx="4678200" cy="59400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SX1276 LoRa Fallback</a:t>
            </a:r>
            <a:endParaRPr lang="en-US" sz="130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DCEEE9"/>
                </a:solidFill>
                <a:effectLst/>
                <a:uFillTx/>
                <a:latin typeface="Calibri"/>
                <a:ea typeface="Calibri"/>
              </a:rPr>
              <a:t>Automatic reroute when Wi-Fi is unavailable</a:t>
            </a:r>
            <a:endParaRPr lang="en-US" sz="1050" b="0" u="none" strike="noStrike">
              <a:solidFill>
                <a:srgbClr val="000000"/>
              </a:solidFill>
              <a:effectLst/>
              <a:uFillTx/>
              <a:latin typeface="Arial"/>
            </a:endParaRPr>
          </a:p>
        </p:txBody>
      </p:sp>
      <p:sp>
        <p:nvSpPr>
          <p:cNvPr id="61" name="Shape 20"/>
          <p:cNvSpPr/>
          <p:nvPr/>
        </p:nvSpPr>
        <p:spPr>
          <a:xfrm>
            <a:off x="6644520" y="4160520"/>
            <a:ext cx="82080" cy="82080"/>
          </a:xfrm>
          <a:prstGeom prst="ellipse">
            <a:avLst/>
          </a:prstGeom>
          <a:solidFill>
            <a:srgbClr val="FF7A30"/>
          </a:solidFill>
          <a:ln w="0">
            <a:noFill/>
          </a:ln>
        </p:spPr>
        <p:style>
          <a:lnRef idx="0"/>
          <a:fillRef idx="0"/>
          <a:effectRef idx="0"/>
          <a:fontRef idx="minor"/>
        </p:style>
        <p:txBody>
          <a:bodyPr lIns="90000" tIns="13320" rIns="90000" bIns="13320" anchor="t">
            <a:noAutofit/>
          </a:bodyPr>
          <a:p>
            <a:endParaRPr lang="en-US" sz="1800" b="0" u="none" strike="noStrike">
              <a:solidFill>
                <a:srgbClr val="000000"/>
              </a:solidFill>
              <a:effectLst/>
              <a:uFillTx/>
              <a:latin typeface="Arial"/>
            </a:endParaRPr>
          </a:p>
        </p:txBody>
      </p:sp>
      <p:sp>
        <p:nvSpPr>
          <p:cNvPr id="62" name="Text 21"/>
          <p:cNvSpPr/>
          <p:nvPr/>
        </p:nvSpPr>
        <p:spPr>
          <a:xfrm>
            <a:off x="6873120" y="4032360"/>
            <a:ext cx="4678200" cy="594000"/>
          </a:xfrm>
          <a:prstGeom prst="rect">
            <a:avLst/>
          </a:prstGeom>
          <a:noFill/>
          <a:ln w="0">
            <a:noFill/>
          </a:ln>
        </p:spPr>
        <p:style>
          <a:lnRef idx="0"/>
          <a:fillRef idx="0"/>
          <a:effectRef idx="0"/>
          <a:fontRef idx="minor"/>
        </p:style>
        <p:txBody>
          <a:bodyPr lIns="0" tIns="0" rIns="0" bIns="0" anchor="t">
            <a:noAutofit/>
          </a:bodyPr>
          <a:p>
            <a:r>
              <a:rPr lang="en-US" sz="1300" b="1" u="none" strike="noStrike">
                <a:solidFill>
                  <a:srgbClr val="FFFFFF"/>
                </a:solidFill>
                <a:effectLst/>
                <a:uFillTx/>
                <a:latin typeface="Calibri"/>
                <a:ea typeface="Calibri"/>
              </a:rPr>
              <a:t>Command Relay</a:t>
            </a:r>
            <a:endParaRPr lang="en-US" sz="130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DCEEE9"/>
                </a:solidFill>
                <a:effectLst/>
                <a:uFillTx/>
                <a:latin typeface="Calibri"/>
                <a:ea typeface="Calibri"/>
              </a:rPr>
              <a:t>Cloud/dashboard setpoints passed back to PID loop</a:t>
            </a:r>
            <a:endParaRPr lang="en-US" sz="1050" b="0" u="none" strike="noStrike">
              <a:solidFill>
                <a:srgbClr val="000000"/>
              </a:solidFill>
              <a:effectLst/>
              <a:uFillTx/>
              <a:latin typeface="Arial"/>
            </a:endParaRPr>
          </a:p>
        </p:txBody>
      </p:sp>
      <p:sp>
        <p:nvSpPr>
          <p:cNvPr id="63" name="Shape 22"/>
          <p:cNvSpPr/>
          <p:nvPr/>
        </p:nvSpPr>
        <p:spPr>
          <a:xfrm>
            <a:off x="5940360" y="3223080"/>
            <a:ext cx="310680" cy="360"/>
          </a:xfrm>
          <a:prstGeom prst="line">
            <a:avLst/>
          </a:prstGeom>
          <a:ln w="31750">
            <a:solidFill>
              <a:srgbClr val="FF7A30"/>
            </a:solidFill>
            <a:round/>
            <a:headEnd len="med" type="triangle" w="me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4" name="Shape 23"/>
          <p:cNvSpPr/>
          <p:nvPr/>
        </p:nvSpPr>
        <p:spPr>
          <a:xfrm>
            <a:off x="5528880" y="2656440"/>
            <a:ext cx="1133640" cy="383760"/>
          </a:xfrm>
          <a:prstGeom prst="roundRect">
            <a:avLst>
              <a:gd name="adj" fmla="val 14286"/>
            </a:avLst>
          </a:prstGeom>
          <a:solidFill>
            <a:srgbClr val="F2F7F6"/>
          </a:solidFill>
          <a:ln w="15875">
            <a:solidFill>
              <a:srgbClr val="FF7A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 name="Text 24"/>
          <p:cNvSpPr/>
          <p:nvPr/>
        </p:nvSpPr>
        <p:spPr>
          <a:xfrm>
            <a:off x="5528880" y="2656440"/>
            <a:ext cx="1133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0B2E33"/>
                </a:solidFill>
                <a:effectLst/>
                <a:uFillTx/>
                <a:latin typeface="Calibri"/>
                <a:ea typeface="Calibri"/>
              </a:rPr>
              <a:t>UART / SPI</a:t>
            </a:r>
            <a:endParaRPr lang="en-US" sz="1000" b="0" u="none" strike="noStrike">
              <a:solidFill>
                <a:srgbClr val="000000"/>
              </a:solidFill>
              <a:effectLst/>
              <a:uFillTx/>
              <a:latin typeface="Arial"/>
            </a:endParaRPr>
          </a:p>
        </p:txBody>
      </p:sp>
      <p:sp>
        <p:nvSpPr>
          <p:cNvPr id="66" name="Shape 25"/>
          <p:cNvSpPr/>
          <p:nvPr/>
        </p:nvSpPr>
        <p:spPr>
          <a:xfrm>
            <a:off x="548640" y="5120640"/>
            <a:ext cx="11094120" cy="868320"/>
          </a:xfrm>
          <a:prstGeom prst="roundRect">
            <a:avLst>
              <a:gd name="adj" fmla="val 8421"/>
            </a:avLst>
          </a:prstGeom>
          <a:solidFill>
            <a:srgbClr val="E4EFED"/>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 name="Shape 26"/>
          <p:cNvSpPr/>
          <p:nvPr/>
        </p:nvSpPr>
        <p:spPr>
          <a:xfrm>
            <a:off x="777240" y="5280840"/>
            <a:ext cx="548280" cy="548280"/>
          </a:xfrm>
          <a:prstGeom prst="ellipse">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8" name="Image 2" descr="/home/claude/biosense_deck/icons/bolt_FFFFFF.png"/>
          <p:cNvPicPr/>
          <p:nvPr/>
        </p:nvPicPr>
        <p:blipFill>
          <a:blip r:embed="rId3"/>
          <a:stretch/>
        </p:blipFill>
        <p:spPr>
          <a:xfrm>
            <a:off x="848520" y="5352120"/>
            <a:ext cx="405720" cy="405720"/>
          </a:xfrm>
          <a:prstGeom prst="rect">
            <a:avLst/>
          </a:prstGeom>
          <a:noFill/>
          <a:ln w="0">
            <a:noFill/>
          </a:ln>
        </p:spPr>
      </p:pic>
      <p:sp>
        <p:nvSpPr>
          <p:cNvPr id="69" name="Text 27"/>
          <p:cNvSpPr/>
          <p:nvPr/>
        </p:nvSpPr>
        <p:spPr>
          <a:xfrm>
            <a:off x="1463040" y="5230440"/>
            <a:ext cx="1008828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B2E33"/>
                </a:solidFill>
                <a:effectLst/>
                <a:uFillTx/>
                <a:latin typeface="Calibri"/>
                <a:ea typeface="Calibri"/>
              </a:rPr>
              <a:t>Why Split the Load?  </a:t>
            </a:r>
            <a:r>
              <a:rPr lang="en-US" sz="1200" b="0" u="none" strike="noStrike">
                <a:solidFill>
                  <a:srgbClr val="1F3D3A"/>
                </a:solidFill>
                <a:effectLst/>
                <a:uFillTx/>
                <a:latin typeface="Calibri"/>
                <a:ea typeface="Calibri"/>
              </a:rPr>
              <a:t>The real-time control loop never blocks on network jitter, MQTT congestion, or a dropped Wi-Fi connection — hard timing guarantees stay hard, no matter what the network is doing.</a:t>
            </a:r>
            <a:endParaRPr lang="en-US" sz="1200" b="0" u="none" strike="noStrike">
              <a:solidFill>
                <a:srgbClr val="000000"/>
              </a:solidFill>
              <a:effectLst/>
              <a:uFillTx/>
              <a:latin typeface="Arial"/>
            </a:endParaRPr>
          </a:p>
        </p:txBody>
      </p:sp>
      <p:sp>
        <p:nvSpPr>
          <p:cNvPr id="70" name="Text 28"/>
          <p:cNvSpPr/>
          <p:nvPr/>
        </p:nvSpPr>
        <p:spPr>
          <a:xfrm>
            <a:off x="457200" y="647388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B8A87"/>
                </a:solidFill>
                <a:effectLst/>
                <a:uFillTx/>
                <a:latin typeface="Calibri"/>
                <a:ea typeface="Calibri"/>
              </a:rPr>
              <a:t>BIOSENSE-EDGE  |  DEVS 2026</a:t>
            </a:r>
            <a:endParaRPr lang="en-US" sz="900" b="0" u="none" strike="noStrike">
              <a:solidFill>
                <a:srgbClr val="000000"/>
              </a:solidFill>
              <a:effectLst/>
              <a:uFillTx/>
              <a:latin typeface="Arial"/>
            </a:endParaRPr>
          </a:p>
        </p:txBody>
      </p:sp>
      <p:sp>
        <p:nvSpPr>
          <p:cNvPr id="71" name="Text 29"/>
          <p:cNvSpPr/>
          <p:nvPr/>
        </p:nvSpPr>
        <p:spPr>
          <a:xfrm>
            <a:off x="11277360" y="647388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B8A87"/>
                </a:solidFill>
                <a:effectLst/>
                <a:uFillTx/>
                <a:latin typeface="Calibri"/>
                <a:ea typeface="Calibri"/>
              </a:rPr>
              <a:t>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7F6"/>
        </a:solidFill>
      </p:bgPr>
    </p:bg>
    <p:spTree>
      <p:nvGrpSpPr>
        <p:cNvPr id="1" name=""/>
        <p:cNvGrpSpPr/>
        <p:nvPr/>
      </p:nvGrpSpPr>
      <p:grpSpPr>
        <a:xfrm>
          <a:off x="0" y="0"/>
          <a:ext cx="0" cy="0"/>
          <a:chOff x="0" y="0"/>
          <a:chExt cx="0" cy="0"/>
        </a:xfrm>
      </p:grpSpPr>
      <p:sp>
        <p:nvSpPr>
          <p:cNvPr id="72" name="Text 0"/>
          <p:cNvSpPr/>
          <p:nvPr/>
        </p:nvSpPr>
        <p:spPr>
          <a:xfrm>
            <a:off x="548640" y="36576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0F5C56"/>
                </a:solidFill>
                <a:effectLst/>
                <a:uFillTx/>
                <a:latin typeface="Calibri"/>
                <a:ea typeface="Calibri"/>
              </a:rPr>
              <a:t>HARDWARE &amp; SIGNAL CHAIN  ·  DEVS EVALUATION 25%</a:t>
            </a:r>
            <a:endParaRPr lang="en-US" sz="1200" b="0" u="none" strike="noStrike">
              <a:solidFill>
                <a:srgbClr val="000000"/>
              </a:solidFill>
              <a:effectLst/>
              <a:uFillTx/>
              <a:latin typeface="Arial"/>
            </a:endParaRPr>
          </a:p>
        </p:txBody>
      </p:sp>
      <p:sp>
        <p:nvSpPr>
          <p:cNvPr id="73" name="Text 1"/>
          <p:cNvSpPr/>
          <p:nvPr/>
        </p:nvSpPr>
        <p:spPr>
          <a:xfrm>
            <a:off x="548640" y="640080"/>
            <a:ext cx="11063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700" b="1" u="none" strike="noStrike">
                <a:solidFill>
                  <a:srgbClr val="0B2E33"/>
                </a:solidFill>
                <a:effectLst/>
                <a:uFillTx/>
                <a:latin typeface="Cambria"/>
                <a:ea typeface="Cambria"/>
              </a:rPr>
              <a:t>Lab-Grade Sensing, Galvanically Isolated</a:t>
            </a:r>
            <a:endParaRPr lang="en-US" sz="2700" b="0" u="none" strike="noStrike">
              <a:solidFill>
                <a:srgbClr val="000000"/>
              </a:solidFill>
              <a:effectLst/>
              <a:uFillTx/>
              <a:latin typeface="Arial"/>
            </a:endParaRPr>
          </a:p>
        </p:txBody>
      </p:sp>
      <p:sp>
        <p:nvSpPr>
          <p:cNvPr id="74" name="Shape 2"/>
          <p:cNvSpPr/>
          <p:nvPr/>
        </p:nvSpPr>
        <p:spPr>
          <a:xfrm>
            <a:off x="548640" y="1691640"/>
            <a:ext cx="6309000" cy="914040"/>
          </a:xfrm>
          <a:prstGeom prst="roundRect">
            <a:avLst>
              <a:gd name="adj" fmla="val 8000"/>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Shape 3"/>
          <p:cNvSpPr/>
          <p:nvPr/>
        </p:nvSpPr>
        <p:spPr>
          <a:xfrm>
            <a:off x="777240" y="186552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6" name="Image 0" descr="/home/claude/biosense_deck/icons/ph_FFFFFF.png"/>
          <p:cNvPicPr/>
          <p:nvPr/>
        </p:nvPicPr>
        <p:blipFill>
          <a:blip r:embed="rId1"/>
          <a:stretch/>
        </p:blipFill>
        <p:spPr>
          <a:xfrm>
            <a:off x="851040" y="1938960"/>
            <a:ext cx="419040" cy="419040"/>
          </a:xfrm>
          <a:prstGeom prst="rect">
            <a:avLst/>
          </a:prstGeom>
          <a:noFill/>
          <a:ln w="0">
            <a:noFill/>
          </a:ln>
        </p:spPr>
      </p:pic>
      <p:sp>
        <p:nvSpPr>
          <p:cNvPr id="77" name="Text 4"/>
          <p:cNvSpPr/>
          <p:nvPr/>
        </p:nvSpPr>
        <p:spPr>
          <a:xfrm>
            <a:off x="1508760" y="1783080"/>
            <a:ext cx="5211720" cy="731160"/>
          </a:xfrm>
          <a:prstGeom prst="rect">
            <a:avLst/>
          </a:prstGeom>
          <a:noFill/>
          <a:ln w="0">
            <a:noFill/>
          </a:ln>
        </p:spPr>
        <p:style>
          <a:lnRef idx="0"/>
          <a:fillRef idx="0"/>
          <a:effectRef idx="0"/>
          <a:fontRef idx="minor"/>
        </p:style>
        <p:txBody>
          <a:bodyPr lIns="0" tIns="0" rIns="0" bIns="0" anchor="ctr">
            <a:noAutofit/>
          </a:bodyPr>
          <a:p>
            <a:r>
              <a:rPr lang="en-US" sz="1400" b="1" u="none" strike="noStrike">
                <a:solidFill>
                  <a:srgbClr val="0B2E33"/>
                </a:solidFill>
                <a:effectLst/>
                <a:uFillTx/>
                <a:latin typeface="Calibri"/>
                <a:ea typeface="Calibri"/>
              </a:rPr>
              <a:t>pH Probe → Atlas EZO-pH</a:t>
            </a:r>
            <a:endParaRPr lang="en-US" sz="14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6B8A87"/>
                </a:solidFill>
                <a:effectLst/>
                <a:uFillTx/>
                <a:latin typeface="Calibri"/>
                <a:ea typeface="Calibri"/>
              </a:rPr>
              <a:t>Lab-grade accuracy over I2C, temp-compensated</a:t>
            </a:r>
            <a:endParaRPr lang="en-US" sz="1100" b="0" u="none" strike="noStrike">
              <a:solidFill>
                <a:srgbClr val="000000"/>
              </a:solidFill>
              <a:effectLst/>
              <a:uFillTx/>
              <a:latin typeface="Arial"/>
            </a:endParaRPr>
          </a:p>
        </p:txBody>
      </p:sp>
      <p:sp>
        <p:nvSpPr>
          <p:cNvPr id="78" name="Shape 5"/>
          <p:cNvSpPr/>
          <p:nvPr/>
        </p:nvSpPr>
        <p:spPr>
          <a:xfrm>
            <a:off x="548640" y="2770560"/>
            <a:ext cx="6309000" cy="914040"/>
          </a:xfrm>
          <a:prstGeom prst="roundRect">
            <a:avLst>
              <a:gd name="adj" fmla="val 8000"/>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 name="Shape 6"/>
          <p:cNvSpPr/>
          <p:nvPr/>
        </p:nvSpPr>
        <p:spPr>
          <a:xfrm>
            <a:off x="777240" y="294444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0" name="Image 1" descr="/home/claude/biosense_deck/icons/do_probe_FFFFFF.png"/>
          <p:cNvPicPr/>
          <p:nvPr/>
        </p:nvPicPr>
        <p:blipFill>
          <a:blip r:embed="rId2"/>
          <a:stretch/>
        </p:blipFill>
        <p:spPr>
          <a:xfrm>
            <a:off x="851040" y="3018240"/>
            <a:ext cx="419040" cy="419040"/>
          </a:xfrm>
          <a:prstGeom prst="rect">
            <a:avLst/>
          </a:prstGeom>
          <a:noFill/>
          <a:ln w="0">
            <a:noFill/>
          </a:ln>
        </p:spPr>
      </p:pic>
      <p:sp>
        <p:nvSpPr>
          <p:cNvPr id="81" name="Text 7"/>
          <p:cNvSpPr/>
          <p:nvPr/>
        </p:nvSpPr>
        <p:spPr>
          <a:xfrm>
            <a:off x="1508760" y="2862000"/>
            <a:ext cx="5211720" cy="731160"/>
          </a:xfrm>
          <a:prstGeom prst="rect">
            <a:avLst/>
          </a:prstGeom>
          <a:noFill/>
          <a:ln w="0">
            <a:noFill/>
          </a:ln>
        </p:spPr>
        <p:style>
          <a:lnRef idx="0"/>
          <a:fillRef idx="0"/>
          <a:effectRef idx="0"/>
          <a:fontRef idx="minor"/>
        </p:style>
        <p:txBody>
          <a:bodyPr lIns="0" tIns="0" rIns="0" bIns="0" anchor="ctr">
            <a:noAutofit/>
          </a:bodyPr>
          <a:p>
            <a:r>
              <a:rPr lang="en-US" sz="1400" b="1" u="none" strike="noStrike">
                <a:solidFill>
                  <a:srgbClr val="0B2E33"/>
                </a:solidFill>
                <a:effectLst/>
                <a:uFillTx/>
                <a:latin typeface="Calibri"/>
                <a:ea typeface="Calibri"/>
              </a:rPr>
              <a:t>DO Probe → Atlas EZO-DO</a:t>
            </a:r>
            <a:endParaRPr lang="en-US" sz="14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6B8A87"/>
                </a:solidFill>
                <a:effectLst/>
                <a:uFillTx/>
                <a:latin typeface="Calibri"/>
                <a:ea typeface="Calibri"/>
              </a:rPr>
              <a:t>Dissolved oxygen for aerobic process control</a:t>
            </a:r>
            <a:endParaRPr lang="en-US" sz="1100" b="0" u="none" strike="noStrike">
              <a:solidFill>
                <a:srgbClr val="000000"/>
              </a:solidFill>
              <a:effectLst/>
              <a:uFillTx/>
              <a:latin typeface="Arial"/>
            </a:endParaRPr>
          </a:p>
        </p:txBody>
      </p:sp>
      <p:sp>
        <p:nvSpPr>
          <p:cNvPr id="82" name="Shape 8"/>
          <p:cNvSpPr/>
          <p:nvPr/>
        </p:nvSpPr>
        <p:spPr>
          <a:xfrm>
            <a:off x="548640" y="3849480"/>
            <a:ext cx="6309000" cy="914040"/>
          </a:xfrm>
          <a:prstGeom prst="roundRect">
            <a:avLst>
              <a:gd name="adj" fmla="val 8000"/>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Shape 9"/>
          <p:cNvSpPr/>
          <p:nvPr/>
        </p:nvSpPr>
        <p:spPr>
          <a:xfrm>
            <a:off x="777240" y="402336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4" name="Image 2" descr="/home/claude/biosense_deck/icons/temp_FFFFFF.png"/>
          <p:cNvPicPr/>
          <p:nvPr/>
        </p:nvPicPr>
        <p:blipFill>
          <a:blip r:embed="rId3"/>
          <a:stretch/>
        </p:blipFill>
        <p:spPr>
          <a:xfrm>
            <a:off x="851040" y="4097160"/>
            <a:ext cx="419040" cy="419040"/>
          </a:xfrm>
          <a:prstGeom prst="rect">
            <a:avLst/>
          </a:prstGeom>
          <a:noFill/>
          <a:ln w="0">
            <a:noFill/>
          </a:ln>
        </p:spPr>
      </p:pic>
      <p:sp>
        <p:nvSpPr>
          <p:cNvPr id="85" name="Text 10"/>
          <p:cNvSpPr/>
          <p:nvPr/>
        </p:nvSpPr>
        <p:spPr>
          <a:xfrm>
            <a:off x="1508760" y="3940920"/>
            <a:ext cx="5211720" cy="731160"/>
          </a:xfrm>
          <a:prstGeom prst="rect">
            <a:avLst/>
          </a:prstGeom>
          <a:noFill/>
          <a:ln w="0">
            <a:noFill/>
          </a:ln>
        </p:spPr>
        <p:style>
          <a:lnRef idx="0"/>
          <a:fillRef idx="0"/>
          <a:effectRef idx="0"/>
          <a:fontRef idx="minor"/>
        </p:style>
        <p:txBody>
          <a:bodyPr lIns="0" tIns="0" rIns="0" bIns="0" anchor="ctr">
            <a:noAutofit/>
          </a:bodyPr>
          <a:p>
            <a:r>
              <a:rPr lang="en-US" sz="1400" b="1" u="none" strike="noStrike">
                <a:solidFill>
                  <a:srgbClr val="0B2E33"/>
                </a:solidFill>
                <a:effectLst/>
                <a:uFillTx/>
                <a:latin typeface="Calibri"/>
                <a:ea typeface="Calibri"/>
              </a:rPr>
              <a:t>PT100 RTD → MAX31865</a:t>
            </a:r>
            <a:endParaRPr lang="en-US" sz="14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6B8A87"/>
                </a:solidFill>
                <a:effectLst/>
                <a:uFillTx/>
                <a:latin typeface="Calibri"/>
                <a:ea typeface="Calibri"/>
              </a:rPr>
              <a:t>Industrial ±0.5°C precision temperature driver</a:t>
            </a:r>
            <a:endParaRPr lang="en-US" sz="1100" b="0" u="none" strike="noStrike">
              <a:solidFill>
                <a:srgbClr val="000000"/>
              </a:solidFill>
              <a:effectLst/>
              <a:uFillTx/>
              <a:latin typeface="Arial"/>
            </a:endParaRPr>
          </a:p>
        </p:txBody>
      </p:sp>
      <p:sp>
        <p:nvSpPr>
          <p:cNvPr id="86" name="Shape 11"/>
          <p:cNvSpPr/>
          <p:nvPr/>
        </p:nvSpPr>
        <p:spPr>
          <a:xfrm>
            <a:off x="548640" y="4928760"/>
            <a:ext cx="6309000" cy="914040"/>
          </a:xfrm>
          <a:prstGeom prst="roundRect">
            <a:avLst>
              <a:gd name="adj" fmla="val 8000"/>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 name="Shape 12"/>
          <p:cNvSpPr/>
          <p:nvPr/>
        </p:nvSpPr>
        <p:spPr>
          <a:xfrm>
            <a:off x="777240" y="5102280"/>
            <a:ext cx="566640" cy="5666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8" name="Image 3" descr="/home/claude/biosense_deck/icons/od_FFFFFF.png"/>
          <p:cNvPicPr/>
          <p:nvPr/>
        </p:nvPicPr>
        <p:blipFill>
          <a:blip r:embed="rId4"/>
          <a:stretch/>
        </p:blipFill>
        <p:spPr>
          <a:xfrm>
            <a:off x="851040" y="5176080"/>
            <a:ext cx="419040" cy="419040"/>
          </a:xfrm>
          <a:prstGeom prst="rect">
            <a:avLst/>
          </a:prstGeom>
          <a:noFill/>
          <a:ln w="0">
            <a:noFill/>
          </a:ln>
        </p:spPr>
      </p:pic>
      <p:sp>
        <p:nvSpPr>
          <p:cNvPr id="89" name="Text 13"/>
          <p:cNvSpPr/>
          <p:nvPr/>
        </p:nvSpPr>
        <p:spPr>
          <a:xfrm>
            <a:off x="1508760" y="5020200"/>
            <a:ext cx="5211720" cy="731160"/>
          </a:xfrm>
          <a:prstGeom prst="rect">
            <a:avLst/>
          </a:prstGeom>
          <a:noFill/>
          <a:ln w="0">
            <a:noFill/>
          </a:ln>
        </p:spPr>
        <p:style>
          <a:lnRef idx="0"/>
          <a:fillRef idx="0"/>
          <a:effectRef idx="0"/>
          <a:fontRef idx="minor"/>
        </p:style>
        <p:txBody>
          <a:bodyPr lIns="0" tIns="0" rIns="0" bIns="0" anchor="ctr">
            <a:noAutofit/>
          </a:bodyPr>
          <a:p>
            <a:r>
              <a:rPr lang="en-US" sz="1400" b="1" u="none" strike="noStrike">
                <a:solidFill>
                  <a:srgbClr val="0B2E33"/>
                </a:solidFill>
                <a:effectLst/>
                <a:uFillTx/>
                <a:latin typeface="Calibri"/>
                <a:ea typeface="Calibri"/>
              </a:rPr>
              <a:t>OD600 Sensor</a:t>
            </a:r>
            <a:endParaRPr lang="en-US" sz="14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6B8A87"/>
                </a:solidFill>
                <a:effectLst/>
                <a:uFillTx/>
                <a:latin typeface="Calibri"/>
                <a:ea typeface="Calibri"/>
              </a:rPr>
              <a:t>Photodiode-based biomass / turbidity tracking</a:t>
            </a:r>
            <a:endParaRPr lang="en-US" sz="1100" b="0" u="none" strike="noStrike">
              <a:solidFill>
                <a:srgbClr val="000000"/>
              </a:solidFill>
              <a:effectLst/>
              <a:uFillTx/>
              <a:latin typeface="Arial"/>
            </a:endParaRPr>
          </a:p>
        </p:txBody>
      </p:sp>
      <p:sp>
        <p:nvSpPr>
          <p:cNvPr id="90" name="Shape 14"/>
          <p:cNvSpPr/>
          <p:nvPr/>
        </p:nvSpPr>
        <p:spPr>
          <a:xfrm>
            <a:off x="7178040" y="1691640"/>
            <a:ext cx="4480200" cy="4315680"/>
          </a:xfrm>
          <a:prstGeom prst="roundRect">
            <a:avLst>
              <a:gd name="adj" fmla="val 2119"/>
            </a:avLst>
          </a:prstGeom>
          <a:solidFill>
            <a:srgbClr val="0B2E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 name="Text 15"/>
          <p:cNvSpPr/>
          <p:nvPr/>
        </p:nvSpPr>
        <p:spPr>
          <a:xfrm>
            <a:off x="7452360" y="1920240"/>
            <a:ext cx="3931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19" strike="noStrike">
                <a:solidFill>
                  <a:srgbClr val="FF7A30"/>
                </a:solidFill>
                <a:effectLst/>
                <a:uFillTx/>
                <a:latin typeface="Calibri"/>
                <a:ea typeface="Calibri"/>
              </a:rPr>
              <a:t>ISO1540 GALVANIC ISOLATION</a:t>
            </a:r>
            <a:endParaRPr lang="en-US" sz="1100" b="0" u="none" strike="noStrike">
              <a:solidFill>
                <a:srgbClr val="000000"/>
              </a:solidFill>
              <a:effectLst/>
              <a:uFillTx/>
              <a:latin typeface="Arial"/>
            </a:endParaRPr>
          </a:p>
        </p:txBody>
      </p:sp>
      <p:sp>
        <p:nvSpPr>
          <p:cNvPr id="92" name="Shape 16"/>
          <p:cNvSpPr/>
          <p:nvPr/>
        </p:nvSpPr>
        <p:spPr>
          <a:xfrm>
            <a:off x="7452360" y="2331720"/>
            <a:ext cx="3931560" cy="1371240"/>
          </a:xfrm>
          <a:prstGeom prst="roundRect">
            <a:avLst>
              <a:gd name="adj" fmla="val 5333"/>
            </a:avLst>
          </a:prstGeom>
          <a:solidFill>
            <a:srgbClr val="16454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 name="Text 17"/>
          <p:cNvSpPr/>
          <p:nvPr/>
        </p:nvSpPr>
        <p:spPr>
          <a:xfrm>
            <a:off x="7635240" y="244152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D7E8E6"/>
                </a:solidFill>
                <a:effectLst/>
                <a:uFillTx/>
                <a:latin typeface="Calibri"/>
                <a:ea typeface="Calibri"/>
              </a:rPr>
              <a:t>Analog / Probe Domain</a:t>
            </a:r>
            <a:endParaRPr lang="en-US" sz="1150" b="0" u="none" strike="noStrike">
              <a:solidFill>
                <a:srgbClr val="000000"/>
              </a:solidFill>
              <a:effectLst/>
              <a:uFillTx/>
              <a:latin typeface="Arial"/>
            </a:endParaRPr>
          </a:p>
        </p:txBody>
      </p:sp>
      <p:sp>
        <p:nvSpPr>
          <p:cNvPr id="94" name="Text 18"/>
          <p:cNvSpPr/>
          <p:nvPr/>
        </p:nvSpPr>
        <p:spPr>
          <a:xfrm>
            <a:off x="7635240" y="2715840"/>
            <a:ext cx="3565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FC7C2"/>
                </a:solidFill>
                <a:effectLst/>
                <a:uFillTx/>
                <a:latin typeface="Calibri"/>
                <a:ea typeface="Calibri"/>
              </a:rPr>
              <a:t>Ground loops · ESD · pump/heater EMI · wet-probe noise</a:t>
            </a:r>
            <a:endParaRPr lang="en-US" sz="1050" b="0" u="none" strike="noStrike">
              <a:solidFill>
                <a:srgbClr val="000000"/>
              </a:solidFill>
              <a:effectLst/>
              <a:uFillTx/>
              <a:latin typeface="Arial"/>
            </a:endParaRPr>
          </a:p>
        </p:txBody>
      </p:sp>
      <p:sp>
        <p:nvSpPr>
          <p:cNvPr id="95" name="Shape 19"/>
          <p:cNvSpPr/>
          <p:nvPr/>
        </p:nvSpPr>
        <p:spPr>
          <a:xfrm>
            <a:off x="745236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 name="Shape 20"/>
          <p:cNvSpPr/>
          <p:nvPr/>
        </p:nvSpPr>
        <p:spPr>
          <a:xfrm>
            <a:off x="773316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Shape 21"/>
          <p:cNvSpPr/>
          <p:nvPr/>
        </p:nvSpPr>
        <p:spPr>
          <a:xfrm>
            <a:off x="801396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Shape 22"/>
          <p:cNvSpPr/>
          <p:nvPr/>
        </p:nvSpPr>
        <p:spPr>
          <a:xfrm>
            <a:off x="829476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Shape 23"/>
          <p:cNvSpPr/>
          <p:nvPr/>
        </p:nvSpPr>
        <p:spPr>
          <a:xfrm>
            <a:off x="85759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0" name="Shape 24"/>
          <p:cNvSpPr/>
          <p:nvPr/>
        </p:nvSpPr>
        <p:spPr>
          <a:xfrm>
            <a:off x="88567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1" name="Shape 25"/>
          <p:cNvSpPr/>
          <p:nvPr/>
        </p:nvSpPr>
        <p:spPr>
          <a:xfrm>
            <a:off x="91375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 name="Shape 26"/>
          <p:cNvSpPr/>
          <p:nvPr/>
        </p:nvSpPr>
        <p:spPr>
          <a:xfrm>
            <a:off x="94183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 name="Shape 27"/>
          <p:cNvSpPr/>
          <p:nvPr/>
        </p:nvSpPr>
        <p:spPr>
          <a:xfrm>
            <a:off x="96991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Shape 28"/>
          <p:cNvSpPr/>
          <p:nvPr/>
        </p:nvSpPr>
        <p:spPr>
          <a:xfrm>
            <a:off x="99799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 name="Shape 29"/>
          <p:cNvSpPr/>
          <p:nvPr/>
        </p:nvSpPr>
        <p:spPr>
          <a:xfrm>
            <a:off x="1026072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 name="Shape 30"/>
          <p:cNvSpPr/>
          <p:nvPr/>
        </p:nvSpPr>
        <p:spPr>
          <a:xfrm>
            <a:off x="1054188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 name="Shape 31"/>
          <p:cNvSpPr/>
          <p:nvPr/>
        </p:nvSpPr>
        <p:spPr>
          <a:xfrm>
            <a:off x="1082268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 name="Shape 32"/>
          <p:cNvSpPr/>
          <p:nvPr/>
        </p:nvSpPr>
        <p:spPr>
          <a:xfrm>
            <a:off x="11103480" y="3840480"/>
            <a:ext cx="234720" cy="127800"/>
          </a:xfrm>
          <a:prstGeom prst="rect">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Shape 33"/>
          <p:cNvSpPr/>
          <p:nvPr/>
        </p:nvSpPr>
        <p:spPr>
          <a:xfrm>
            <a:off x="9098280" y="3593520"/>
            <a:ext cx="639720" cy="639720"/>
          </a:xfrm>
          <a:prstGeom prst="ellipse">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10" name="Image 4" descr="/home/claude/biosense_deck/icons/lock_0B2E33.png"/>
          <p:cNvPicPr/>
          <p:nvPr/>
        </p:nvPicPr>
        <p:blipFill>
          <a:blip r:embed="rId5"/>
          <a:stretch/>
        </p:blipFill>
        <p:spPr>
          <a:xfrm>
            <a:off x="9181440" y="3676680"/>
            <a:ext cx="473400" cy="473400"/>
          </a:xfrm>
          <a:prstGeom prst="rect">
            <a:avLst/>
          </a:prstGeom>
          <a:noFill/>
          <a:ln w="0">
            <a:noFill/>
          </a:ln>
        </p:spPr>
      </p:pic>
      <p:sp>
        <p:nvSpPr>
          <p:cNvPr id="111" name="Shape 34"/>
          <p:cNvSpPr/>
          <p:nvPr/>
        </p:nvSpPr>
        <p:spPr>
          <a:xfrm>
            <a:off x="7452360" y="4206240"/>
            <a:ext cx="3931560" cy="1416960"/>
          </a:xfrm>
          <a:prstGeom prst="roundRect">
            <a:avLst>
              <a:gd name="adj" fmla="val 5161"/>
            </a:avLst>
          </a:prstGeom>
          <a:solidFill>
            <a:srgbClr val="16454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Text 35"/>
          <p:cNvSpPr/>
          <p:nvPr/>
        </p:nvSpPr>
        <p:spPr>
          <a:xfrm>
            <a:off x="7635240" y="431604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D7E8E6"/>
                </a:solidFill>
                <a:effectLst/>
                <a:uFillTx/>
                <a:latin typeface="Calibri"/>
                <a:ea typeface="Calibri"/>
              </a:rPr>
              <a:t>Digital / MCU Domain</a:t>
            </a:r>
            <a:endParaRPr lang="en-US" sz="1150" b="0" u="none" strike="noStrike">
              <a:solidFill>
                <a:srgbClr val="000000"/>
              </a:solidFill>
              <a:effectLst/>
              <a:uFillTx/>
              <a:latin typeface="Arial"/>
            </a:endParaRPr>
          </a:p>
        </p:txBody>
      </p:sp>
      <p:sp>
        <p:nvSpPr>
          <p:cNvPr id="113" name="Text 36"/>
          <p:cNvSpPr/>
          <p:nvPr/>
        </p:nvSpPr>
        <p:spPr>
          <a:xfrm>
            <a:off x="7635240" y="4590360"/>
            <a:ext cx="3565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FC7C2"/>
                </a:solidFill>
                <a:effectLst/>
                <a:uFillTx/>
                <a:latin typeface="Calibri"/>
                <a:ea typeface="Calibri"/>
              </a:rPr>
              <a:t>Clean I2C bus into STM32H7 — sensor faults cannot propagate back to probes</a:t>
            </a:r>
            <a:endParaRPr lang="en-US" sz="1050" b="0" u="none" strike="noStrike">
              <a:solidFill>
                <a:srgbClr val="000000"/>
              </a:solidFill>
              <a:effectLst/>
              <a:uFillTx/>
              <a:latin typeface="Arial"/>
            </a:endParaRPr>
          </a:p>
        </p:txBody>
      </p:sp>
      <p:sp>
        <p:nvSpPr>
          <p:cNvPr id="114" name="Text 37"/>
          <p:cNvSpPr/>
          <p:nvPr/>
        </p:nvSpPr>
        <p:spPr>
          <a:xfrm>
            <a:off x="457200" y="647388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B8A87"/>
                </a:solidFill>
                <a:effectLst/>
                <a:uFillTx/>
                <a:latin typeface="Calibri"/>
                <a:ea typeface="Calibri"/>
              </a:rPr>
              <a:t>BIOSENSE-EDGE  |  DEVS 2026</a:t>
            </a:r>
            <a:endParaRPr lang="en-US" sz="900" b="0" u="none" strike="noStrike">
              <a:solidFill>
                <a:srgbClr val="000000"/>
              </a:solidFill>
              <a:effectLst/>
              <a:uFillTx/>
              <a:latin typeface="Arial"/>
            </a:endParaRPr>
          </a:p>
        </p:txBody>
      </p:sp>
      <p:sp>
        <p:nvSpPr>
          <p:cNvPr id="115" name="Text 38"/>
          <p:cNvSpPr/>
          <p:nvPr/>
        </p:nvSpPr>
        <p:spPr>
          <a:xfrm>
            <a:off x="11277360" y="647388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B8A87"/>
                </a:solidFill>
                <a:effectLst/>
                <a:uFillTx/>
                <a:latin typeface="Calibri"/>
                <a:ea typeface="Calibri"/>
              </a:rPr>
              <a:t>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7F6"/>
        </a:solidFill>
      </p:bgPr>
    </p:bg>
    <p:spTree>
      <p:nvGrpSpPr>
        <p:cNvPr id="1" name=""/>
        <p:cNvGrpSpPr/>
        <p:nvPr/>
      </p:nvGrpSpPr>
      <p:grpSpPr>
        <a:xfrm>
          <a:off x="0" y="0"/>
          <a:ext cx="0" cy="0"/>
          <a:chOff x="0" y="0"/>
          <a:chExt cx="0" cy="0"/>
        </a:xfrm>
      </p:grpSpPr>
      <p:sp>
        <p:nvSpPr>
          <p:cNvPr id="116" name="Text 0"/>
          <p:cNvSpPr/>
          <p:nvPr/>
        </p:nvSpPr>
        <p:spPr>
          <a:xfrm>
            <a:off x="548640" y="36576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0F5C56"/>
                </a:solidFill>
                <a:effectLst/>
                <a:uFillTx/>
                <a:latin typeface="Calibri"/>
                <a:ea typeface="Calibri"/>
              </a:rPr>
              <a:t>METHODOLOGY &amp; FAIL-SAFE ROUTING  ·  DEVS EVALUATION 20%</a:t>
            </a:r>
            <a:endParaRPr lang="en-US" sz="1200" b="0" u="none" strike="noStrike">
              <a:solidFill>
                <a:srgbClr val="000000"/>
              </a:solidFill>
              <a:effectLst/>
              <a:uFillTx/>
              <a:latin typeface="Arial"/>
            </a:endParaRPr>
          </a:p>
        </p:txBody>
      </p:sp>
      <p:sp>
        <p:nvSpPr>
          <p:cNvPr id="117" name="Text 1"/>
          <p:cNvSpPr/>
          <p:nvPr/>
        </p:nvSpPr>
        <p:spPr>
          <a:xfrm>
            <a:off x="548640" y="640080"/>
            <a:ext cx="110638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700" b="1" u="none" strike="noStrike">
                <a:solidFill>
                  <a:srgbClr val="0B2E33"/>
                </a:solidFill>
                <a:effectLst/>
                <a:uFillTx/>
                <a:latin typeface="Cambria"/>
                <a:ea typeface="Cambria"/>
              </a:rPr>
              <a:t>Closed-Loop Control With Built-In Fail-Safes</a:t>
            </a:r>
            <a:endParaRPr lang="en-US" sz="2700" b="0" u="none" strike="noStrike">
              <a:solidFill>
                <a:srgbClr val="000000"/>
              </a:solidFill>
              <a:effectLst/>
              <a:uFillTx/>
              <a:latin typeface="Arial"/>
            </a:endParaRPr>
          </a:p>
        </p:txBody>
      </p:sp>
      <p:sp>
        <p:nvSpPr>
          <p:cNvPr id="118" name="Shape 2"/>
          <p:cNvSpPr/>
          <p:nvPr/>
        </p:nvSpPr>
        <p:spPr>
          <a:xfrm>
            <a:off x="548640" y="1691640"/>
            <a:ext cx="2514240" cy="1919880"/>
          </a:xfrm>
          <a:prstGeom prst="roundRect">
            <a:avLst>
              <a:gd name="adj" fmla="val 4762"/>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Text 3"/>
          <p:cNvSpPr/>
          <p:nvPr/>
        </p:nvSpPr>
        <p:spPr>
          <a:xfrm>
            <a:off x="685800" y="1783080"/>
            <a:ext cx="548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C9DAD7"/>
                </a:solidFill>
                <a:effectLst/>
                <a:uFillTx/>
                <a:latin typeface="Cambria"/>
                <a:ea typeface="Cambria"/>
              </a:rPr>
              <a:t>1</a:t>
            </a:r>
            <a:endParaRPr lang="en-US" sz="2000" b="0" u="none" strike="noStrike">
              <a:solidFill>
                <a:srgbClr val="000000"/>
              </a:solidFill>
              <a:effectLst/>
              <a:uFillTx/>
              <a:latin typeface="Arial"/>
            </a:endParaRPr>
          </a:p>
        </p:txBody>
      </p:sp>
      <p:sp>
        <p:nvSpPr>
          <p:cNvPr id="120" name="Shape 4"/>
          <p:cNvSpPr/>
          <p:nvPr/>
        </p:nvSpPr>
        <p:spPr>
          <a:xfrm>
            <a:off x="1422000" y="2011680"/>
            <a:ext cx="767880" cy="76788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1" name="Image 0" descr="/home/claude/biosense_deck/icons/ph_FFFFFF.png"/>
          <p:cNvPicPr/>
          <p:nvPr/>
        </p:nvPicPr>
        <p:blipFill>
          <a:blip r:embed="rId1"/>
          <a:stretch/>
        </p:blipFill>
        <p:spPr>
          <a:xfrm>
            <a:off x="1521720" y="2111400"/>
            <a:ext cx="568080" cy="568080"/>
          </a:xfrm>
          <a:prstGeom prst="rect">
            <a:avLst/>
          </a:prstGeom>
          <a:noFill/>
          <a:ln w="0">
            <a:noFill/>
          </a:ln>
        </p:spPr>
      </p:pic>
      <p:sp>
        <p:nvSpPr>
          <p:cNvPr id="122" name="Text 5"/>
          <p:cNvSpPr/>
          <p:nvPr/>
        </p:nvSpPr>
        <p:spPr>
          <a:xfrm>
            <a:off x="685800" y="2862000"/>
            <a:ext cx="22399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2E33"/>
                </a:solidFill>
                <a:effectLst/>
                <a:uFillTx/>
                <a:latin typeface="Calibri"/>
                <a:ea typeface="Calibri"/>
              </a:rPr>
              <a:t>SENSE</a:t>
            </a:r>
            <a:endParaRPr lang="en-US" sz="1300" b="0" u="none" strike="noStrike">
              <a:solidFill>
                <a:srgbClr val="000000"/>
              </a:solidFill>
              <a:effectLst/>
              <a:uFillTx/>
              <a:latin typeface="Arial"/>
            </a:endParaRPr>
          </a:p>
        </p:txBody>
      </p:sp>
      <p:sp>
        <p:nvSpPr>
          <p:cNvPr id="123" name="Text 6"/>
          <p:cNvSpPr/>
          <p:nvPr/>
        </p:nvSpPr>
        <p:spPr>
          <a:xfrm>
            <a:off x="731520" y="313632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6B8A87"/>
                </a:solidFill>
                <a:effectLst/>
                <a:uFillTx/>
                <a:latin typeface="Calibri"/>
                <a:ea typeface="Calibri"/>
              </a:rPr>
              <a:t>All 4 parameters sampled at high speed via isolated ADC/SPI</a:t>
            </a:r>
            <a:endParaRPr lang="en-US" sz="950" b="0" u="none" strike="noStrike">
              <a:solidFill>
                <a:srgbClr val="000000"/>
              </a:solidFill>
              <a:effectLst/>
              <a:uFillTx/>
              <a:latin typeface="Arial"/>
            </a:endParaRPr>
          </a:p>
        </p:txBody>
      </p:sp>
      <p:sp>
        <p:nvSpPr>
          <p:cNvPr id="124" name="Shape 7"/>
          <p:cNvSpPr/>
          <p:nvPr/>
        </p:nvSpPr>
        <p:spPr>
          <a:xfrm>
            <a:off x="3117960" y="2331720"/>
            <a:ext cx="235440" cy="360"/>
          </a:xfrm>
          <a:prstGeom prst="line">
            <a:avLst/>
          </a:prstGeom>
          <a:ln w="25400">
            <a:solidFill>
              <a:srgbClr val="FF7A3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25" name="Shape 8"/>
          <p:cNvSpPr/>
          <p:nvPr/>
        </p:nvSpPr>
        <p:spPr>
          <a:xfrm>
            <a:off x="3408480" y="1691640"/>
            <a:ext cx="2514240" cy="1919880"/>
          </a:xfrm>
          <a:prstGeom prst="roundRect">
            <a:avLst>
              <a:gd name="adj" fmla="val 4762"/>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Text 9"/>
          <p:cNvSpPr/>
          <p:nvPr/>
        </p:nvSpPr>
        <p:spPr>
          <a:xfrm>
            <a:off x="3545640" y="1783080"/>
            <a:ext cx="548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C9DAD7"/>
                </a:solidFill>
                <a:effectLst/>
                <a:uFillTx/>
                <a:latin typeface="Cambria"/>
                <a:ea typeface="Cambria"/>
              </a:rPr>
              <a:t>2</a:t>
            </a:r>
            <a:endParaRPr lang="en-US" sz="2000" b="0" u="none" strike="noStrike">
              <a:solidFill>
                <a:srgbClr val="000000"/>
              </a:solidFill>
              <a:effectLst/>
              <a:uFillTx/>
              <a:latin typeface="Arial"/>
            </a:endParaRPr>
          </a:p>
        </p:txBody>
      </p:sp>
      <p:sp>
        <p:nvSpPr>
          <p:cNvPr id="127" name="Shape 10"/>
          <p:cNvSpPr/>
          <p:nvPr/>
        </p:nvSpPr>
        <p:spPr>
          <a:xfrm>
            <a:off x="4281840" y="2011680"/>
            <a:ext cx="767880" cy="76788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8" name="Image 1" descr="/home/claude/biosense_deck/icons/chart_FFFFFF.png"/>
          <p:cNvPicPr/>
          <p:nvPr/>
        </p:nvPicPr>
        <p:blipFill>
          <a:blip r:embed="rId2"/>
          <a:stretch/>
        </p:blipFill>
        <p:spPr>
          <a:xfrm>
            <a:off x="4381560" y="2111400"/>
            <a:ext cx="568080" cy="568080"/>
          </a:xfrm>
          <a:prstGeom prst="rect">
            <a:avLst/>
          </a:prstGeom>
          <a:noFill/>
          <a:ln w="0">
            <a:noFill/>
          </a:ln>
        </p:spPr>
      </p:pic>
      <p:sp>
        <p:nvSpPr>
          <p:cNvPr id="129" name="Text 11"/>
          <p:cNvSpPr/>
          <p:nvPr/>
        </p:nvSpPr>
        <p:spPr>
          <a:xfrm>
            <a:off x="3545640" y="2862000"/>
            <a:ext cx="22399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2E33"/>
                </a:solidFill>
                <a:effectLst/>
                <a:uFillTx/>
                <a:latin typeface="Calibri"/>
                <a:ea typeface="Calibri"/>
              </a:rPr>
              <a:t>COMPUTE</a:t>
            </a:r>
            <a:endParaRPr lang="en-US" sz="1300" b="0" u="none" strike="noStrike">
              <a:solidFill>
                <a:srgbClr val="000000"/>
              </a:solidFill>
              <a:effectLst/>
              <a:uFillTx/>
              <a:latin typeface="Arial"/>
            </a:endParaRPr>
          </a:p>
        </p:txBody>
      </p:sp>
      <p:sp>
        <p:nvSpPr>
          <p:cNvPr id="130" name="Text 12"/>
          <p:cNvSpPr/>
          <p:nvPr/>
        </p:nvSpPr>
        <p:spPr>
          <a:xfrm>
            <a:off x="3591360" y="313632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6B8A87"/>
                </a:solidFill>
                <a:effectLst/>
                <a:uFillTx/>
                <a:latin typeface="Calibri"/>
                <a:ea typeface="Calibri"/>
              </a:rPr>
              <a:t>STM32H7 runs real-time PID correction against setpoints</a:t>
            </a:r>
            <a:endParaRPr lang="en-US" sz="950" b="0" u="none" strike="noStrike">
              <a:solidFill>
                <a:srgbClr val="000000"/>
              </a:solidFill>
              <a:effectLst/>
              <a:uFillTx/>
              <a:latin typeface="Arial"/>
            </a:endParaRPr>
          </a:p>
        </p:txBody>
      </p:sp>
      <p:sp>
        <p:nvSpPr>
          <p:cNvPr id="131" name="Shape 13"/>
          <p:cNvSpPr/>
          <p:nvPr/>
        </p:nvSpPr>
        <p:spPr>
          <a:xfrm>
            <a:off x="5977800" y="2331720"/>
            <a:ext cx="235800" cy="360"/>
          </a:xfrm>
          <a:prstGeom prst="line">
            <a:avLst/>
          </a:prstGeom>
          <a:ln w="25400">
            <a:solidFill>
              <a:srgbClr val="FF7A3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2" name="Shape 14"/>
          <p:cNvSpPr/>
          <p:nvPr/>
        </p:nvSpPr>
        <p:spPr>
          <a:xfrm>
            <a:off x="6268680" y="1691640"/>
            <a:ext cx="2514240" cy="1919880"/>
          </a:xfrm>
          <a:prstGeom prst="roundRect">
            <a:avLst>
              <a:gd name="adj" fmla="val 4762"/>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3" name="Text 15"/>
          <p:cNvSpPr/>
          <p:nvPr/>
        </p:nvSpPr>
        <p:spPr>
          <a:xfrm>
            <a:off x="6405840" y="1783080"/>
            <a:ext cx="548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C9DAD7"/>
                </a:solidFill>
                <a:effectLst/>
                <a:uFillTx/>
                <a:latin typeface="Cambria"/>
                <a:ea typeface="Cambria"/>
              </a:rPr>
              <a:t>3</a:t>
            </a:r>
            <a:endParaRPr lang="en-US" sz="2000" b="0" u="none" strike="noStrike">
              <a:solidFill>
                <a:srgbClr val="000000"/>
              </a:solidFill>
              <a:effectLst/>
              <a:uFillTx/>
              <a:latin typeface="Arial"/>
            </a:endParaRPr>
          </a:p>
        </p:txBody>
      </p:sp>
      <p:sp>
        <p:nvSpPr>
          <p:cNvPr id="134" name="Shape 16"/>
          <p:cNvSpPr/>
          <p:nvPr/>
        </p:nvSpPr>
        <p:spPr>
          <a:xfrm>
            <a:off x="7141680" y="2011680"/>
            <a:ext cx="767880" cy="76788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5" name="Image 2" descr="/home/claude/biosense_deck/icons/bolt_FFFFFF.png"/>
          <p:cNvPicPr/>
          <p:nvPr/>
        </p:nvPicPr>
        <p:blipFill>
          <a:blip r:embed="rId3"/>
          <a:stretch/>
        </p:blipFill>
        <p:spPr>
          <a:xfrm>
            <a:off x="7241760" y="2111400"/>
            <a:ext cx="568080" cy="568080"/>
          </a:xfrm>
          <a:prstGeom prst="rect">
            <a:avLst/>
          </a:prstGeom>
          <a:noFill/>
          <a:ln w="0">
            <a:noFill/>
          </a:ln>
        </p:spPr>
      </p:pic>
      <p:sp>
        <p:nvSpPr>
          <p:cNvPr id="136" name="Text 17"/>
          <p:cNvSpPr/>
          <p:nvPr/>
        </p:nvSpPr>
        <p:spPr>
          <a:xfrm>
            <a:off x="6405840" y="2862000"/>
            <a:ext cx="22399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2E33"/>
                </a:solidFill>
                <a:effectLst/>
                <a:uFillTx/>
                <a:latin typeface="Calibri"/>
                <a:ea typeface="Calibri"/>
              </a:rPr>
              <a:t>ACTUATE</a:t>
            </a:r>
            <a:endParaRPr lang="en-US" sz="1300" b="0" u="none" strike="noStrike">
              <a:solidFill>
                <a:srgbClr val="000000"/>
              </a:solidFill>
              <a:effectLst/>
              <a:uFillTx/>
              <a:latin typeface="Arial"/>
            </a:endParaRPr>
          </a:p>
        </p:txBody>
      </p:sp>
      <p:sp>
        <p:nvSpPr>
          <p:cNvPr id="137" name="Text 18"/>
          <p:cNvSpPr/>
          <p:nvPr/>
        </p:nvSpPr>
        <p:spPr>
          <a:xfrm>
            <a:off x="6451560" y="313632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6B8A87"/>
                </a:solidFill>
                <a:effectLst/>
                <a:uFillTx/>
                <a:latin typeface="Calibri"/>
                <a:ea typeface="Calibri"/>
              </a:rPr>
              <a:t>SSR heating + dual peristaltic acid/base pumps respond</a:t>
            </a:r>
            <a:endParaRPr lang="en-US" sz="950" b="0" u="none" strike="noStrike">
              <a:solidFill>
                <a:srgbClr val="000000"/>
              </a:solidFill>
              <a:effectLst/>
              <a:uFillTx/>
              <a:latin typeface="Arial"/>
            </a:endParaRPr>
          </a:p>
        </p:txBody>
      </p:sp>
      <p:sp>
        <p:nvSpPr>
          <p:cNvPr id="138" name="Shape 19"/>
          <p:cNvSpPr/>
          <p:nvPr/>
        </p:nvSpPr>
        <p:spPr>
          <a:xfrm>
            <a:off x="8837640" y="2331720"/>
            <a:ext cx="235800" cy="360"/>
          </a:xfrm>
          <a:prstGeom prst="line">
            <a:avLst/>
          </a:prstGeom>
          <a:ln w="25400">
            <a:solidFill>
              <a:srgbClr val="FF7A3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9" name="Shape 20"/>
          <p:cNvSpPr/>
          <p:nvPr/>
        </p:nvSpPr>
        <p:spPr>
          <a:xfrm>
            <a:off x="9128520" y="1691640"/>
            <a:ext cx="2514240" cy="1919880"/>
          </a:xfrm>
          <a:prstGeom prst="roundRect">
            <a:avLst>
              <a:gd name="adj" fmla="val 4762"/>
            </a:avLst>
          </a:prstGeom>
          <a:solidFill>
            <a:srgbClr val="FFFFFF"/>
          </a:solidFill>
          <a:ln w="12700">
            <a:solidFill>
              <a:srgbClr val="D7E5E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Text 21"/>
          <p:cNvSpPr/>
          <p:nvPr/>
        </p:nvSpPr>
        <p:spPr>
          <a:xfrm>
            <a:off x="9265680" y="1783080"/>
            <a:ext cx="5482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C9DAD7"/>
                </a:solidFill>
                <a:effectLst/>
                <a:uFillTx/>
                <a:latin typeface="Cambria"/>
                <a:ea typeface="Cambria"/>
              </a:rPr>
              <a:t>4</a:t>
            </a:r>
            <a:endParaRPr lang="en-US" sz="2000" b="0" u="none" strike="noStrike">
              <a:solidFill>
                <a:srgbClr val="000000"/>
              </a:solidFill>
              <a:effectLst/>
              <a:uFillTx/>
              <a:latin typeface="Arial"/>
            </a:endParaRPr>
          </a:p>
        </p:txBody>
      </p:sp>
      <p:sp>
        <p:nvSpPr>
          <p:cNvPr id="141" name="Shape 22"/>
          <p:cNvSpPr/>
          <p:nvPr/>
        </p:nvSpPr>
        <p:spPr>
          <a:xfrm>
            <a:off x="10001880" y="2011680"/>
            <a:ext cx="767880" cy="76788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2" name="Image 3" descr="/home/claude/biosense_deck/icons/sd_FFFFFF.png"/>
          <p:cNvPicPr/>
          <p:nvPr/>
        </p:nvPicPr>
        <p:blipFill>
          <a:blip r:embed="rId4"/>
          <a:stretch/>
        </p:blipFill>
        <p:spPr>
          <a:xfrm>
            <a:off x="10101600" y="2111400"/>
            <a:ext cx="568080" cy="568080"/>
          </a:xfrm>
          <a:prstGeom prst="rect">
            <a:avLst/>
          </a:prstGeom>
          <a:noFill/>
          <a:ln w="0">
            <a:noFill/>
          </a:ln>
        </p:spPr>
      </p:pic>
      <p:sp>
        <p:nvSpPr>
          <p:cNvPr id="143" name="Text 23"/>
          <p:cNvSpPr/>
          <p:nvPr/>
        </p:nvSpPr>
        <p:spPr>
          <a:xfrm>
            <a:off x="9265680" y="2862000"/>
            <a:ext cx="22399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0B2E33"/>
                </a:solidFill>
                <a:effectLst/>
                <a:uFillTx/>
                <a:latin typeface="Calibri"/>
                <a:ea typeface="Calibri"/>
              </a:rPr>
              <a:t>LOG</a:t>
            </a:r>
            <a:endParaRPr lang="en-US" sz="1300" b="0" u="none" strike="noStrike">
              <a:solidFill>
                <a:srgbClr val="000000"/>
              </a:solidFill>
              <a:effectLst/>
              <a:uFillTx/>
              <a:latin typeface="Arial"/>
            </a:endParaRPr>
          </a:p>
        </p:txBody>
      </p:sp>
      <p:sp>
        <p:nvSpPr>
          <p:cNvPr id="144" name="Text 24"/>
          <p:cNvSpPr/>
          <p:nvPr/>
        </p:nvSpPr>
        <p:spPr>
          <a:xfrm>
            <a:off x="9311400" y="3136320"/>
            <a:ext cx="214848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u="none" strike="noStrike">
                <a:solidFill>
                  <a:srgbClr val="6B8A87"/>
                </a:solidFill>
                <a:effectLst/>
                <a:uFillTx/>
                <a:latin typeface="Calibri"/>
                <a:ea typeface="Calibri"/>
              </a:rPr>
              <a:t>Every reading black-boxed to SD — zero loss, network-independent</a:t>
            </a:r>
            <a:endParaRPr lang="en-US" sz="950" b="0" u="none" strike="noStrike">
              <a:solidFill>
                <a:srgbClr val="000000"/>
              </a:solidFill>
              <a:effectLst/>
              <a:uFillTx/>
              <a:latin typeface="Arial"/>
            </a:endParaRPr>
          </a:p>
        </p:txBody>
      </p:sp>
      <p:sp>
        <p:nvSpPr>
          <p:cNvPr id="145" name="Shape 25"/>
          <p:cNvSpPr/>
          <p:nvPr/>
        </p:nvSpPr>
        <p:spPr>
          <a:xfrm>
            <a:off x="548640" y="4023360"/>
            <a:ext cx="11094120" cy="1691280"/>
          </a:xfrm>
          <a:prstGeom prst="roundRect">
            <a:avLst>
              <a:gd name="adj" fmla="val 5405"/>
            </a:avLst>
          </a:prstGeom>
          <a:solidFill>
            <a:srgbClr val="0B2E33"/>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6" name="Text 26"/>
          <p:cNvSpPr/>
          <p:nvPr/>
        </p:nvSpPr>
        <p:spPr>
          <a:xfrm>
            <a:off x="822960" y="420624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50" strike="noStrike">
                <a:solidFill>
                  <a:srgbClr val="FF7A30"/>
                </a:solidFill>
                <a:effectLst/>
                <a:uFillTx/>
                <a:latin typeface="Calibri"/>
                <a:ea typeface="Calibri"/>
              </a:rPr>
              <a:t>AUTOMATIC FAIL-SAFE ROUTING</a:t>
            </a:r>
            <a:endParaRPr lang="en-US" sz="1100" b="0" u="none" strike="noStrike">
              <a:solidFill>
                <a:srgbClr val="000000"/>
              </a:solidFill>
              <a:effectLst/>
              <a:uFillTx/>
              <a:latin typeface="Arial"/>
            </a:endParaRPr>
          </a:p>
        </p:txBody>
      </p:sp>
      <p:sp>
        <p:nvSpPr>
          <p:cNvPr id="147" name="Shape 27"/>
          <p:cNvSpPr/>
          <p:nvPr/>
        </p:nvSpPr>
        <p:spPr>
          <a:xfrm>
            <a:off x="822960" y="4617720"/>
            <a:ext cx="685440" cy="6854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8" name="Image 4" descr="/home/claude/biosense_deck/icons/wifi_0B2E33.png"/>
          <p:cNvPicPr/>
          <p:nvPr/>
        </p:nvPicPr>
        <p:blipFill>
          <a:blip r:embed="rId5"/>
          <a:stretch/>
        </p:blipFill>
        <p:spPr>
          <a:xfrm>
            <a:off x="912240" y="4707000"/>
            <a:ext cx="507240" cy="507240"/>
          </a:xfrm>
          <a:prstGeom prst="rect">
            <a:avLst/>
          </a:prstGeom>
          <a:noFill/>
          <a:ln w="0">
            <a:noFill/>
          </a:ln>
        </p:spPr>
      </p:pic>
      <p:sp>
        <p:nvSpPr>
          <p:cNvPr id="149" name="Text 28"/>
          <p:cNvSpPr/>
          <p:nvPr/>
        </p:nvSpPr>
        <p:spPr>
          <a:xfrm>
            <a:off x="1600200" y="4663440"/>
            <a:ext cx="182844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Wi-Fi / MQTT</a:t>
            </a:r>
            <a:endParaRPr lang="en-US"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FFFFFF"/>
                </a:solidFill>
                <a:effectLst/>
                <a:uFillTx/>
                <a:latin typeface="Calibri"/>
                <a:ea typeface="Calibri"/>
              </a:rPr>
              <a:t>(Primary)</a:t>
            </a:r>
            <a:endParaRPr lang="en-US" sz="1200" b="0" u="none" strike="noStrike">
              <a:solidFill>
                <a:srgbClr val="000000"/>
              </a:solidFill>
              <a:effectLst/>
              <a:uFillTx/>
              <a:latin typeface="Arial"/>
            </a:endParaRPr>
          </a:p>
        </p:txBody>
      </p:sp>
      <p:sp>
        <p:nvSpPr>
          <p:cNvPr id="150" name="Shape 29"/>
          <p:cNvSpPr/>
          <p:nvPr/>
        </p:nvSpPr>
        <p:spPr>
          <a:xfrm>
            <a:off x="3566160" y="4955760"/>
            <a:ext cx="1188720" cy="360"/>
          </a:xfrm>
          <a:prstGeom prst="line">
            <a:avLst/>
          </a:prstGeom>
          <a:ln w="25400">
            <a:solidFill>
              <a:srgbClr val="FF7A30"/>
            </a:solidFill>
            <a:prstDash val="dash"/>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1" name="Shape 30"/>
          <p:cNvSpPr/>
          <p:nvPr/>
        </p:nvSpPr>
        <p:spPr>
          <a:xfrm>
            <a:off x="4892040" y="4617720"/>
            <a:ext cx="548280" cy="548280"/>
          </a:xfrm>
          <a:prstGeom prst="ellipse">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52" name="Image 5" descr="/home/claude/biosense_deck/icons/sync_0B2E33.png"/>
          <p:cNvPicPr/>
          <p:nvPr/>
        </p:nvPicPr>
        <p:blipFill>
          <a:blip r:embed="rId6"/>
          <a:stretch/>
        </p:blipFill>
        <p:spPr>
          <a:xfrm>
            <a:off x="4963320" y="4689000"/>
            <a:ext cx="405720" cy="405720"/>
          </a:xfrm>
          <a:prstGeom prst="rect">
            <a:avLst/>
          </a:prstGeom>
          <a:noFill/>
          <a:ln w="0">
            <a:noFill/>
          </a:ln>
        </p:spPr>
      </p:pic>
      <p:sp>
        <p:nvSpPr>
          <p:cNvPr id="153" name="Text 31"/>
          <p:cNvSpPr/>
          <p:nvPr/>
        </p:nvSpPr>
        <p:spPr>
          <a:xfrm>
            <a:off x="4617720" y="5193720"/>
            <a:ext cx="118836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AFC9C6"/>
                </a:solidFill>
                <a:effectLst/>
                <a:uFillTx/>
                <a:latin typeface="Calibri"/>
                <a:ea typeface="Calibri"/>
              </a:rPr>
              <a:t>ESP32 monitors link health</a:t>
            </a:r>
            <a:endParaRPr lang="en-US" sz="850" b="0" u="none" strike="noStrike">
              <a:solidFill>
                <a:srgbClr val="000000"/>
              </a:solidFill>
              <a:effectLst/>
              <a:uFillTx/>
              <a:latin typeface="Arial"/>
            </a:endParaRPr>
          </a:p>
        </p:txBody>
      </p:sp>
      <p:sp>
        <p:nvSpPr>
          <p:cNvPr id="154" name="Shape 32"/>
          <p:cNvSpPr/>
          <p:nvPr/>
        </p:nvSpPr>
        <p:spPr>
          <a:xfrm>
            <a:off x="5577840" y="4955760"/>
            <a:ext cx="1188720" cy="360"/>
          </a:xfrm>
          <a:prstGeom prst="line">
            <a:avLst/>
          </a:prstGeom>
          <a:ln w="25400">
            <a:solidFill>
              <a:srgbClr val="FF7A3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5" name="Shape 33"/>
          <p:cNvSpPr/>
          <p:nvPr/>
        </p:nvSpPr>
        <p:spPr>
          <a:xfrm>
            <a:off x="6903720" y="4617720"/>
            <a:ext cx="685440" cy="685440"/>
          </a:xfrm>
          <a:prstGeom prst="ellipse">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56" name="Image 6" descr="/home/claude/biosense_deck/icons/lora_0B2E33.png"/>
          <p:cNvPicPr/>
          <p:nvPr/>
        </p:nvPicPr>
        <p:blipFill>
          <a:blip r:embed="rId7"/>
          <a:stretch/>
        </p:blipFill>
        <p:spPr>
          <a:xfrm>
            <a:off x="6993000" y="4707000"/>
            <a:ext cx="507240" cy="507240"/>
          </a:xfrm>
          <a:prstGeom prst="rect">
            <a:avLst/>
          </a:prstGeom>
          <a:noFill/>
          <a:ln w="0">
            <a:noFill/>
          </a:ln>
        </p:spPr>
      </p:pic>
      <p:sp>
        <p:nvSpPr>
          <p:cNvPr id="157" name="Text 34"/>
          <p:cNvSpPr/>
          <p:nvPr/>
        </p:nvSpPr>
        <p:spPr>
          <a:xfrm>
            <a:off x="7680960" y="4663440"/>
            <a:ext cx="2194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SX1276 LoRa</a:t>
            </a:r>
            <a:endParaRPr lang="en-US" sz="12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FFFFFF"/>
                </a:solidFill>
                <a:effectLst/>
                <a:uFillTx/>
                <a:latin typeface="Calibri"/>
                <a:ea typeface="Calibri"/>
              </a:rPr>
              <a:t>(Automatic Fallback)</a:t>
            </a:r>
            <a:endParaRPr lang="en-US" sz="1200" b="0" u="none" strike="noStrike">
              <a:solidFill>
                <a:srgbClr val="000000"/>
              </a:solidFill>
              <a:effectLst/>
              <a:uFillTx/>
              <a:latin typeface="Arial"/>
            </a:endParaRPr>
          </a:p>
        </p:txBody>
      </p:sp>
      <p:sp>
        <p:nvSpPr>
          <p:cNvPr id="158" name="Shape 35"/>
          <p:cNvSpPr/>
          <p:nvPr/>
        </p:nvSpPr>
        <p:spPr>
          <a:xfrm>
            <a:off x="7863840" y="4480560"/>
            <a:ext cx="360" cy="360"/>
          </a:xfrm>
          <a:prstGeom prst="line">
            <a:avLst/>
          </a:prstGeom>
          <a:ln w="0">
            <a:noFill/>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9" name="Text 36"/>
          <p:cNvSpPr/>
          <p:nvPr/>
        </p:nvSpPr>
        <p:spPr>
          <a:xfrm>
            <a:off x="822960" y="5321880"/>
            <a:ext cx="99968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i="1" u="none" strike="noStrike">
                <a:solidFill>
                  <a:srgbClr val="9FC7C2"/>
                </a:solidFill>
                <a:effectLst/>
                <a:uFillTx/>
                <a:latin typeface="Calibri"/>
                <a:ea typeface="Calibri"/>
              </a:rPr>
              <a:t>Zero manual intervention required — operators keep full visibility even during a Wi-Fi outage.</a:t>
            </a:r>
            <a:endParaRPr lang="en-US" sz="1050" b="0" u="none" strike="noStrike">
              <a:solidFill>
                <a:srgbClr val="000000"/>
              </a:solidFill>
              <a:effectLst/>
              <a:uFillTx/>
              <a:latin typeface="Arial"/>
            </a:endParaRPr>
          </a:p>
        </p:txBody>
      </p:sp>
      <p:sp>
        <p:nvSpPr>
          <p:cNvPr id="160" name="Text 37"/>
          <p:cNvSpPr/>
          <p:nvPr/>
        </p:nvSpPr>
        <p:spPr>
          <a:xfrm>
            <a:off x="457200" y="647388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B8A87"/>
                </a:solidFill>
                <a:effectLst/>
                <a:uFillTx/>
                <a:latin typeface="Calibri"/>
                <a:ea typeface="Calibri"/>
              </a:rPr>
              <a:t>BIOSENSE-EDGE  |  DEVS 2026</a:t>
            </a:r>
            <a:endParaRPr lang="en-US" sz="900" b="0" u="none" strike="noStrike">
              <a:solidFill>
                <a:srgbClr val="000000"/>
              </a:solidFill>
              <a:effectLst/>
              <a:uFillTx/>
              <a:latin typeface="Arial"/>
            </a:endParaRPr>
          </a:p>
        </p:txBody>
      </p:sp>
      <p:sp>
        <p:nvSpPr>
          <p:cNvPr id="161" name="Text 38"/>
          <p:cNvSpPr/>
          <p:nvPr/>
        </p:nvSpPr>
        <p:spPr>
          <a:xfrm>
            <a:off x="11277360" y="647388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B8A87"/>
                </a:solidFill>
                <a:effectLst/>
                <a:uFillTx/>
                <a:latin typeface="Calibri"/>
                <a:ea typeface="Calibri"/>
              </a:rPr>
              <a:t>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2E33"/>
        </a:solidFill>
      </p:bgPr>
    </p:bg>
    <p:spTree>
      <p:nvGrpSpPr>
        <p:cNvPr id="1" name=""/>
        <p:cNvGrpSpPr/>
        <p:nvPr/>
      </p:nvGrpSpPr>
      <p:grpSpPr>
        <a:xfrm>
          <a:off x="0" y="0"/>
          <a:ext cx="0" cy="0"/>
          <a:chOff x="0" y="0"/>
          <a:chExt cx="0" cy="0"/>
        </a:xfrm>
      </p:grpSpPr>
      <p:sp>
        <p:nvSpPr>
          <p:cNvPr id="162" name="Text 0"/>
          <p:cNvSpPr/>
          <p:nvPr/>
        </p:nvSpPr>
        <p:spPr>
          <a:xfrm>
            <a:off x="640080" y="50292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FF7A30"/>
                </a:solidFill>
                <a:effectLst/>
                <a:uFillTx/>
                <a:latin typeface="Calibri"/>
                <a:ea typeface="Calibri"/>
              </a:rPr>
              <a:t>BOM · LOCALIZATION · FEASIBILITY  ·  DEVS EVALUATION 20%</a:t>
            </a:r>
            <a:endParaRPr lang="en-US" sz="1200" b="0" u="none" strike="noStrike">
              <a:solidFill>
                <a:srgbClr val="FFFFFF"/>
              </a:solidFill>
              <a:effectLst/>
              <a:uFillTx/>
              <a:latin typeface="Arial"/>
            </a:endParaRPr>
          </a:p>
        </p:txBody>
      </p:sp>
      <p:sp>
        <p:nvSpPr>
          <p:cNvPr id="163" name="Text 1"/>
          <p:cNvSpPr/>
          <p:nvPr/>
        </p:nvSpPr>
        <p:spPr>
          <a:xfrm>
            <a:off x="640080" y="868680"/>
            <a:ext cx="73148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800" b="1" u="none" strike="noStrike">
                <a:solidFill>
                  <a:srgbClr val="FFFFFF"/>
                </a:solidFill>
                <a:effectLst/>
                <a:uFillTx/>
                <a:latin typeface="Cambria"/>
                <a:ea typeface="Cambria"/>
              </a:rPr>
              <a:t>A 10x Cost Disruption</a:t>
            </a:r>
            <a:endParaRPr lang="en-US" sz="3800" b="0" u="none" strike="noStrike">
              <a:solidFill>
                <a:srgbClr val="FFFFFF"/>
              </a:solidFill>
              <a:effectLst/>
              <a:uFillTx/>
              <a:latin typeface="Arial"/>
            </a:endParaRPr>
          </a:p>
        </p:txBody>
      </p:sp>
      <p:sp>
        <p:nvSpPr>
          <p:cNvPr id="164" name="Shape 2"/>
          <p:cNvSpPr/>
          <p:nvPr/>
        </p:nvSpPr>
        <p:spPr>
          <a:xfrm>
            <a:off x="640080" y="1965960"/>
            <a:ext cx="3245760" cy="2514240"/>
          </a:xfrm>
          <a:prstGeom prst="roundRect">
            <a:avLst>
              <a:gd name="adj" fmla="val 3636"/>
            </a:avLst>
          </a:prstGeom>
          <a:solidFill>
            <a:srgbClr val="0F5C56"/>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5" name="Text 3"/>
          <p:cNvSpPr/>
          <p:nvPr/>
        </p:nvSpPr>
        <p:spPr>
          <a:xfrm>
            <a:off x="868680" y="2194560"/>
            <a:ext cx="2788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19" strike="noStrike">
                <a:solidFill>
                  <a:srgbClr val="CDEAE3"/>
                </a:solidFill>
                <a:effectLst/>
                <a:uFillTx/>
                <a:latin typeface="Calibri"/>
                <a:ea typeface="Calibri"/>
              </a:rPr>
              <a:t>BIOSENSE-EDGE</a:t>
            </a:r>
            <a:endParaRPr lang="en-US" sz="1100" b="0" u="none" strike="noStrike">
              <a:solidFill>
                <a:srgbClr val="FFFFFF"/>
              </a:solidFill>
              <a:effectLst/>
              <a:uFillTx/>
              <a:latin typeface="Arial"/>
            </a:endParaRPr>
          </a:p>
        </p:txBody>
      </p:sp>
      <p:sp>
        <p:nvSpPr>
          <p:cNvPr id="166" name="Text 4"/>
          <p:cNvSpPr/>
          <p:nvPr/>
        </p:nvSpPr>
        <p:spPr>
          <a:xfrm>
            <a:off x="868680" y="2514600"/>
            <a:ext cx="27885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mbria"/>
                <a:ea typeface="Cambria"/>
              </a:rPr>
              <a:t>₹23,000</a:t>
            </a:r>
            <a:endParaRPr lang="en-US" sz="3400" b="0" u="none" strike="noStrike">
              <a:solidFill>
                <a:srgbClr val="FFFFFF"/>
              </a:solidFill>
              <a:effectLst/>
              <a:uFillTx/>
              <a:latin typeface="Arial"/>
            </a:endParaRPr>
          </a:p>
        </p:txBody>
      </p:sp>
      <p:sp>
        <p:nvSpPr>
          <p:cNvPr id="167" name="Text 5"/>
          <p:cNvSpPr/>
          <p:nvPr/>
        </p:nvSpPr>
        <p:spPr>
          <a:xfrm>
            <a:off x="868680" y="3200400"/>
            <a:ext cx="2788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DEAE3"/>
                </a:solidFill>
                <a:effectLst/>
                <a:uFillTx/>
                <a:latin typeface="Calibri"/>
                <a:ea typeface="Calibri"/>
              </a:rPr>
              <a:t>(~$280 USD)</a:t>
            </a:r>
            <a:endParaRPr lang="en-US" sz="1300" b="0" u="none" strike="noStrike">
              <a:solidFill>
                <a:srgbClr val="FFFFFF"/>
              </a:solidFill>
              <a:effectLst/>
              <a:uFillTx/>
              <a:latin typeface="Arial"/>
            </a:endParaRPr>
          </a:p>
        </p:txBody>
      </p:sp>
      <p:sp>
        <p:nvSpPr>
          <p:cNvPr id="168" name="Text 6"/>
          <p:cNvSpPr/>
          <p:nvPr/>
        </p:nvSpPr>
        <p:spPr>
          <a:xfrm>
            <a:off x="868680" y="3703320"/>
            <a:ext cx="2788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DCEEE9"/>
                </a:solidFill>
                <a:effectLst/>
                <a:uFillTx/>
                <a:latin typeface="Calibri"/>
                <a:ea typeface="Calibri"/>
              </a:rPr>
              <a:t>Fully assembled · sensor-to-cloud · locally sourced</a:t>
            </a:r>
            <a:endParaRPr lang="en-US" sz="1050" b="0" u="none" strike="noStrike">
              <a:solidFill>
                <a:srgbClr val="FFFFFF"/>
              </a:solidFill>
              <a:effectLst/>
              <a:uFillTx/>
              <a:latin typeface="Arial"/>
            </a:endParaRPr>
          </a:p>
        </p:txBody>
      </p:sp>
      <p:sp>
        <p:nvSpPr>
          <p:cNvPr id="169" name="Shape 7"/>
          <p:cNvSpPr/>
          <p:nvPr/>
        </p:nvSpPr>
        <p:spPr>
          <a:xfrm>
            <a:off x="4343400" y="1965960"/>
            <a:ext cx="3245760" cy="2514240"/>
          </a:xfrm>
          <a:prstGeom prst="roundRect">
            <a:avLst>
              <a:gd name="adj" fmla="val 3636"/>
            </a:avLst>
          </a:prstGeom>
          <a:solidFill>
            <a:srgbClr val="16454A"/>
          </a:solidFill>
          <a:ln w="12700">
            <a:solidFill>
              <a:srgbClr val="2A6D6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0" name="Text 8"/>
          <p:cNvSpPr/>
          <p:nvPr/>
        </p:nvSpPr>
        <p:spPr>
          <a:xfrm>
            <a:off x="4572000" y="2194560"/>
            <a:ext cx="2788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119" strike="noStrike">
                <a:solidFill>
                  <a:srgbClr val="9FC7C2"/>
                </a:solidFill>
                <a:effectLst/>
                <a:uFillTx/>
                <a:latin typeface="Calibri"/>
                <a:ea typeface="Calibri"/>
              </a:rPr>
              <a:t>LEGACY IMPORTED SYSTEM</a:t>
            </a:r>
            <a:endParaRPr lang="en-US" sz="1100" b="0" u="none" strike="noStrike">
              <a:solidFill>
                <a:srgbClr val="FFFFFF"/>
              </a:solidFill>
              <a:effectLst/>
              <a:uFillTx/>
              <a:latin typeface="Arial"/>
            </a:endParaRPr>
          </a:p>
        </p:txBody>
      </p:sp>
      <p:sp>
        <p:nvSpPr>
          <p:cNvPr id="171" name="Text 9"/>
          <p:cNvSpPr/>
          <p:nvPr/>
        </p:nvSpPr>
        <p:spPr>
          <a:xfrm>
            <a:off x="4572000" y="2514600"/>
            <a:ext cx="27885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D7E8E6"/>
                </a:solidFill>
                <a:effectLst/>
                <a:uFillTx/>
                <a:latin typeface="Cambria"/>
                <a:ea typeface="Cambria"/>
              </a:rPr>
              <a:t>₹2.5L–₹8.3L</a:t>
            </a:r>
            <a:endParaRPr lang="en-US" sz="3400" b="0" u="none" strike="noStrike">
              <a:solidFill>
                <a:srgbClr val="FFFFFF"/>
              </a:solidFill>
              <a:effectLst/>
              <a:uFillTx/>
              <a:latin typeface="Arial"/>
            </a:endParaRPr>
          </a:p>
        </p:txBody>
      </p:sp>
      <p:sp>
        <p:nvSpPr>
          <p:cNvPr id="172" name="Text 10"/>
          <p:cNvSpPr/>
          <p:nvPr/>
        </p:nvSpPr>
        <p:spPr>
          <a:xfrm>
            <a:off x="4572000" y="3200400"/>
            <a:ext cx="27885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9FC7C2"/>
                </a:solidFill>
                <a:effectLst/>
                <a:uFillTx/>
                <a:latin typeface="Calibri"/>
                <a:ea typeface="Calibri"/>
              </a:rPr>
              <a:t>(~$3,000–$10,000 USD)</a:t>
            </a:r>
            <a:endParaRPr lang="en-US" sz="1300" b="0" u="none" strike="noStrike">
              <a:solidFill>
                <a:srgbClr val="FFFFFF"/>
              </a:solidFill>
              <a:effectLst/>
              <a:uFillTx/>
              <a:latin typeface="Arial"/>
            </a:endParaRPr>
          </a:p>
        </p:txBody>
      </p:sp>
      <p:sp>
        <p:nvSpPr>
          <p:cNvPr id="173" name="Text 11"/>
          <p:cNvSpPr/>
          <p:nvPr/>
        </p:nvSpPr>
        <p:spPr>
          <a:xfrm>
            <a:off x="4572000" y="3703320"/>
            <a:ext cx="2788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9FC7C2"/>
                </a:solidFill>
                <a:effectLst/>
                <a:uFillTx/>
                <a:latin typeface="Calibri"/>
                <a:ea typeface="Calibri"/>
              </a:rPr>
              <a:t>Closed hardware · vendor lock-in · long import lead times</a:t>
            </a:r>
            <a:endParaRPr lang="en-US" sz="1050" b="0" u="none" strike="noStrike">
              <a:solidFill>
                <a:srgbClr val="FFFFFF"/>
              </a:solidFill>
              <a:effectLst/>
              <a:uFillTx/>
              <a:latin typeface="Arial"/>
            </a:endParaRPr>
          </a:p>
        </p:txBody>
      </p:sp>
      <p:sp>
        <p:nvSpPr>
          <p:cNvPr id="174" name="Shape 12"/>
          <p:cNvSpPr/>
          <p:nvPr/>
        </p:nvSpPr>
        <p:spPr>
          <a:xfrm>
            <a:off x="8046720" y="1965960"/>
            <a:ext cx="3504600" cy="2514240"/>
          </a:xfrm>
          <a:prstGeom prst="roundRect">
            <a:avLst>
              <a:gd name="adj" fmla="val 3636"/>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5" name="Text 13"/>
          <p:cNvSpPr/>
          <p:nvPr/>
        </p:nvSpPr>
        <p:spPr>
          <a:xfrm>
            <a:off x="8229600" y="2468880"/>
            <a:ext cx="3321720" cy="868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0B2E33"/>
                </a:solidFill>
                <a:effectLst/>
                <a:uFillTx/>
                <a:latin typeface="Cambria"/>
                <a:ea typeface="Cambria"/>
              </a:rPr>
              <a:t>10x–36x</a:t>
            </a:r>
            <a:endParaRPr lang="en-US" sz="4000" b="0" u="none" strike="noStrike">
              <a:solidFill>
                <a:srgbClr val="FFFFFF"/>
              </a:solidFill>
              <a:effectLst/>
              <a:uFillTx/>
              <a:latin typeface="Arial"/>
            </a:endParaRPr>
          </a:p>
        </p:txBody>
      </p:sp>
      <p:sp>
        <p:nvSpPr>
          <p:cNvPr id="176" name="Text 14"/>
          <p:cNvSpPr/>
          <p:nvPr/>
        </p:nvSpPr>
        <p:spPr>
          <a:xfrm>
            <a:off x="8229600" y="3337560"/>
            <a:ext cx="33217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pc="150" strike="noStrike">
                <a:solidFill>
                  <a:srgbClr val="0B2E33"/>
                </a:solidFill>
                <a:effectLst/>
                <a:uFillTx/>
                <a:latin typeface="Calibri"/>
                <a:ea typeface="Calibri"/>
              </a:rPr>
              <a:t>COST REDUCTION</a:t>
            </a:r>
            <a:endParaRPr lang="en-US" sz="1200" b="0" u="none" strike="noStrike">
              <a:solidFill>
                <a:srgbClr val="FFFFFF"/>
              </a:solidFill>
              <a:effectLst/>
              <a:uFillTx/>
              <a:latin typeface="Arial"/>
            </a:endParaRPr>
          </a:p>
        </p:txBody>
      </p:sp>
      <p:sp>
        <p:nvSpPr>
          <p:cNvPr id="177" name="Text 15"/>
          <p:cNvSpPr/>
          <p:nvPr/>
        </p:nvSpPr>
        <p:spPr>
          <a:xfrm>
            <a:off x="8366760" y="3749040"/>
            <a:ext cx="304740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2E1200"/>
                </a:solidFill>
                <a:effectLst/>
                <a:uFillTx/>
                <a:latin typeface="Calibri"/>
                <a:ea typeface="Calibri"/>
              </a:rPr>
              <a:t>without compromising signal isolation, precision, or fail-safe connectivity</a:t>
            </a:r>
            <a:endParaRPr lang="en-US" sz="1000" b="0" u="none" strike="noStrike">
              <a:solidFill>
                <a:srgbClr val="FFFFFF"/>
              </a:solidFill>
              <a:effectLst/>
              <a:uFillTx/>
              <a:latin typeface="Arial"/>
            </a:endParaRPr>
          </a:p>
        </p:txBody>
      </p:sp>
      <p:sp>
        <p:nvSpPr>
          <p:cNvPr id="178" name="Shape 16"/>
          <p:cNvSpPr/>
          <p:nvPr/>
        </p:nvSpPr>
        <p:spPr>
          <a:xfrm>
            <a:off x="640080" y="4846320"/>
            <a:ext cx="10911240" cy="1051200"/>
          </a:xfrm>
          <a:prstGeom prst="roundRect">
            <a:avLst>
              <a:gd name="adj" fmla="val 6957"/>
            </a:avLst>
          </a:prstGeom>
          <a:solidFill>
            <a:srgbClr val="16454A"/>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9" name="Shape 17"/>
          <p:cNvSpPr/>
          <p:nvPr/>
        </p:nvSpPr>
        <p:spPr>
          <a:xfrm>
            <a:off x="868680" y="5083920"/>
            <a:ext cx="566640" cy="566640"/>
          </a:xfrm>
          <a:prstGeom prst="ellipse">
            <a:avLst/>
          </a:prstGeom>
          <a:solidFill>
            <a:srgbClr val="FF7A3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80" name="Image 0" descr="/home/claude/biosense_deck/icons/shield_0B2E33.png"/>
          <p:cNvPicPr/>
          <p:nvPr/>
        </p:nvPicPr>
        <p:blipFill>
          <a:blip r:embed="rId1"/>
          <a:stretch/>
        </p:blipFill>
        <p:spPr>
          <a:xfrm>
            <a:off x="942480" y="5157720"/>
            <a:ext cx="419040" cy="419040"/>
          </a:xfrm>
          <a:prstGeom prst="rect">
            <a:avLst/>
          </a:prstGeom>
          <a:noFill/>
          <a:ln w="0">
            <a:noFill/>
          </a:ln>
        </p:spPr>
      </p:pic>
      <p:sp>
        <p:nvSpPr>
          <p:cNvPr id="181" name="Text 18"/>
          <p:cNvSpPr/>
          <p:nvPr/>
        </p:nvSpPr>
        <p:spPr>
          <a:xfrm>
            <a:off x="1554480" y="4956120"/>
            <a:ext cx="66747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Feasibility: </a:t>
            </a:r>
            <a:r>
              <a:rPr lang="en-US" sz="1150" b="0" u="none" strike="noStrike">
                <a:solidFill>
                  <a:srgbClr val="D7E8E6"/>
                </a:solidFill>
                <a:effectLst/>
                <a:uFillTx/>
                <a:latin typeface="Calibri"/>
                <a:ea typeface="Calibri"/>
              </a:rPr>
              <a:t>Every component — MCU boards, EZO circuits, RTD driver, isolators, pumps — is available off-the-shelf in India today. No custom fab, no import wait.</a:t>
            </a:r>
            <a:endParaRPr lang="en-US" sz="1150" b="0" u="none" strike="noStrike">
              <a:solidFill>
                <a:srgbClr val="FFFFFF"/>
              </a:solidFill>
              <a:effectLst/>
              <a:uFillTx/>
              <a:latin typeface="Arial"/>
            </a:endParaRPr>
          </a:p>
        </p:txBody>
      </p:sp>
      <p:sp>
        <p:nvSpPr>
          <p:cNvPr id="182" name="Shape 19"/>
          <p:cNvSpPr/>
          <p:nvPr/>
        </p:nvSpPr>
        <p:spPr>
          <a:xfrm>
            <a:off x="8503920" y="5010840"/>
            <a:ext cx="3017160" cy="731160"/>
          </a:xfrm>
          <a:prstGeom prst="roundRect">
            <a:avLst>
              <a:gd name="adj" fmla="val 10000"/>
            </a:avLst>
          </a:prstGeom>
          <a:solidFill>
            <a:srgbClr val="F2F7F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3" name="Text 20"/>
          <p:cNvSpPr/>
          <p:nvPr/>
        </p:nvSpPr>
        <p:spPr>
          <a:xfrm>
            <a:off x="8503920" y="5010840"/>
            <a:ext cx="301716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0B2E33"/>
                </a:solidFill>
                <a:effectLst/>
                <a:uFillTx/>
                <a:latin typeface="Calibri"/>
                <a:ea typeface="Calibri"/>
              </a:rPr>
              <a:t>github.com/GJVIJAYG/</a:t>
            </a:r>
            <a:endParaRPr lang="en-US" sz="1150" b="0" u="none" strike="noStrike">
              <a:solidFill>
                <a:srgbClr val="FFFFFF"/>
              </a:solidFill>
              <a:effectLst/>
              <a:uFillTx/>
              <a:latin typeface="Arial"/>
            </a:endParaRPr>
          </a:p>
          <a:p>
            <a:pPr algn="ctr" defTabSz="914400">
              <a:lnSpc>
                <a:spcPct val="100000"/>
              </a:lnSpc>
              <a:tabLst>
                <a:tab pos="0" algn="l"/>
              </a:tabLst>
            </a:pPr>
            <a:r>
              <a:rPr lang="en-US" sz="1150" b="1" u="none" strike="noStrike">
                <a:solidFill>
                  <a:srgbClr val="0B2E33"/>
                </a:solidFill>
                <a:effectLst/>
                <a:uFillTx/>
                <a:latin typeface="Calibri"/>
                <a:ea typeface="Calibri"/>
              </a:rPr>
              <a:t>BioSense-Edge</a:t>
            </a:r>
            <a:endParaRPr lang="en-US" sz="1150" b="0" u="none" strike="noStrike">
              <a:solidFill>
                <a:srgbClr val="FFFFFF"/>
              </a:solidFill>
              <a:effectLst/>
              <a:uFillTx/>
              <a:latin typeface="Arial"/>
            </a:endParaRPr>
          </a:p>
        </p:txBody>
      </p:sp>
      <p:sp>
        <p:nvSpPr>
          <p:cNvPr id="184" name="Text 21"/>
          <p:cNvSpPr/>
          <p:nvPr/>
        </p:nvSpPr>
        <p:spPr>
          <a:xfrm>
            <a:off x="457200" y="647388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9FC7C2"/>
                </a:solidFill>
                <a:effectLst/>
                <a:uFillTx/>
                <a:latin typeface="Calibri"/>
                <a:ea typeface="Calibri"/>
              </a:rPr>
              <a:t>BIOSENSE-EDGE  |  DEVS 2026</a:t>
            </a:r>
            <a:endParaRPr lang="en-US" sz="900" b="0" u="none" strike="noStrike">
              <a:solidFill>
                <a:srgbClr val="FFFFFF"/>
              </a:solidFill>
              <a:effectLst/>
              <a:uFillTx/>
              <a:latin typeface="Arial"/>
            </a:endParaRPr>
          </a:p>
        </p:txBody>
      </p:sp>
      <p:sp>
        <p:nvSpPr>
          <p:cNvPr id="185" name="Text 22"/>
          <p:cNvSpPr/>
          <p:nvPr/>
        </p:nvSpPr>
        <p:spPr>
          <a:xfrm>
            <a:off x="11277360" y="6473880"/>
            <a:ext cx="45684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C7C2"/>
                </a:solidFill>
                <a:effectLst/>
                <a:uFillTx/>
                <a:latin typeface="Calibri"/>
                <a:ea typeface="Calibri"/>
              </a:rPr>
              <a:t>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LibreOffice/26.2.3.2$MacOSX_AARCH64 LibreOffice_project/70e089b17412e4cb7773e41413306b17a2328c34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2026-07-30T19:39:13Z</dcterms:created>
  <dc:creator>PptxGenJS</dc:creator>
  <dc:description/>
  <dc:language>en-US</dc:language>
  <cp:lastModifiedBy/>
  <dcterms:modified xsi:type="dcterms:W3CDTF">2026-07-31T01:15:17Z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(16:9)</vt:lpwstr>
  </property>
  <property fmtid="{D5CDD505-2E9C-101B-9397-08002B2CF9AE}" pid="4" name="Slides">
    <vt:i4>5</vt:i4>
  </property>
</Properties>
</file>